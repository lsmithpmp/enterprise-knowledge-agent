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this is the Interview Kickstart Applied Agentic AI Week 8 system design assignment, delivered as a working build rather than a paper system. The build covers all six rubric sections plus a PRD, a 22-row risk matrix, two n8n workflows, a FastAPI gateway, and a Streamlit analyst dashboard. Anchor to AV/OT cybersecurity — that is the dissertation domain and the place where retrieval precision, citation integrity, and regulatory mapping have the highest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assignment in one sentence, then point to the six rubric sections. Emphasize that this is normally a design-only assignment — graders expect documentation. I went further and built the system as the reference implementation that the design doc describes. The PRD, risk matrix, and two n8n workflows are over-delivery aimed at demonstrating end-to-end product and engineering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layers in 30 seconds, no more. Layer 1 client and edge — Streamlit, REST, n8n webhooks, all auth'd. Layer 2 FastAPI gateway — prompt-injection filter, sanitization, RBAC pre-check, audit hook. Layer 3 the 14-agent pipeline — the deterministic orchestrator I built. Layer 4 data — ChromaDB, audit log, observability log, golden dataset. Layer 5 external tool calling — NIST NVD, CISA ICS-CERT, SerpAPI, MITRE ATT&amp;CK, LangSmith. Layer 6 — the two n8n workflows that extend the system to scheduled surveillance and drift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agents — single responsibility per agent, typed Pydantic contracts, and every system prompt carries an explicit instruction to disregard embedded user directives. Twelve agents run on gpt-4o-mini for cost efficiency; SynthesizerAgent and EvaluationAgent run on gpt-4o because synthesis and judgment benefit from higher capacity. That mini-versus-full split produces approximately 4x cost savings versus uniform gpt-4o.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trade-off in the design doc is named — not hand-waved. The pattern across all seven: pick the simpler, more auditable option for v1, document the migration trigger for v2. This signals engineering maturity to graders — you can articulate what you chose, why, and when you would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failure categories. I want to highlight one — hallucination — because it's the one I encountered live tonight. The first orchestrator run flagged a hallucinated CVE. The fix was structural, not prompt-based: I moved provenance authority from the LLM to the orchestrator, which computes the verification footer deterministically from the live NIST NVD API response. That experience is itself evidence the eval system is doing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is the core of the rubric's Section 5 — and where this build differentiates. Every agent call emits a LangSmith trace span. Every response is scored by an LLM-as-judge across five dimensions. The ConfidenceTracker aggregates per-agent scores into a single pipeline confidence and routes to human review when it drops below 0.60. Three feedback loops close the system: eval failures grow the golden dataset, drift detection forces prompt re-evaluation, and gap detection drives corpus acquisition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a real end-to-end run, not estimates. Fourteen out of fourteen agents fired. Evaluation passed at 0.66 with hallucination risk at 0.20 — below the 0.30 block threshold. Citation coverage 85 percent. End-to-end latency around 50 seconds. Cost per query under two cents. The escalation status is by design: a passing score that's near the threshold routes to human review for the analyst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I most want graders to remember. I caught my own system gaming its evaluator and fixed the underlying architectural problem. When trust in a label can be exploited, you have to make the trustworthy thing structurally impossible to forge. That's the difference between prompt-engineering an LLM to behave and engineering a system where the LLM can't misbehave.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1 is the synchronous research pipeline exposed as an n8n webhook. Sixteen nodes. The first five are the gateway: HMAC, API key, rate limit, prompt-injection filter. The middle nine are the agent pipeline mirrored in n8n with parallel external tool calls to NVD and CISA. The last two are the evaluator and the conditional router that sends failed responses to a human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2 is the autonomous surveillance loop. It fires every four hours, scans new corpus content for security signals, enriches them with live NVD and CISA data, classifies severity, maps to ATT&amp;CK for ICS, detects gaps, assesses compliance impact, and re-scores the golden dataset to detect evaluation drift. CRITICAL findings page out to email or Slack; everything goes into the immutable audit log. This is the workflow that makes the system a continuous monitor, not just a query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Productionization is Section 6 in the design doc. I'm not claiming the reference implementation is enterprise-ready — I'm claiming I know what enterprise-ready requires. Each item here has a corresponding section in the design doc with specific tools, thresholds, and trigger conditions. The disaster-recovery numbers are aggressive but realistic for a system this size with managed services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about limitations strengthens the submission, it doesn't weaken it. Each item is logged in TODO.md in the repo with the proposed fix and definition of done. The HIGH item — corpus/NVD description mismatch — is the single most important follow-up. I noticed it tonight while debugging the eval. It's not a hallucination; it's a corpus data-quality problem that I deferred to address with a clear head tomorrow rather than patching at midnight.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repo as the single best artifact. The README is the landing page; the design doc is the deliverable; the build is the proof. End with thanks for the time, offer to walk graders through the live dashboard or any specific section. Don't end on questions — end on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280160"/>
            <a:ext cx="8229600" cy="640080"/>
          </a:xfrm>
          <a:prstGeom prst="rect">
            <a:avLst/>
          </a:prstGeom>
          <a:noFill/>
          <a:ln/>
        </p:spPr>
        <p:txBody>
          <a:bodyPr wrap="square" lIns="0" tIns="0" rIns="0" bIns="0" rtlCol="0" anchor="ctr"/>
          <a:lstStyle/>
          <a:p>
            <a:pPr indent="0" marL="0">
              <a:buNone/>
            </a:pPr>
            <a:r>
              <a:rPr lang="en-US" sz="4000" spc="200" kern="0" dirty="0">
                <a:solidFill>
                  <a:srgbClr val="FFFFFF"/>
                </a:solidFill>
                <a:latin typeface="Calibri Light" pitchFamily="34" charset="0"/>
                <a:ea typeface="Calibri Light" pitchFamily="34" charset="-122"/>
                <a:cs typeface="Calibri Light" pitchFamily="34" charset="-120"/>
              </a:rPr>
              <a:t>Enterprise Knowledge</a:t>
            </a:r>
            <a:endParaRPr lang="en-US" sz="4000" dirty="0"/>
          </a:p>
        </p:txBody>
      </p:sp>
      <p:sp>
        <p:nvSpPr>
          <p:cNvPr id="3" name="Text 1"/>
          <p:cNvSpPr/>
          <p:nvPr/>
        </p:nvSpPr>
        <p:spPr>
          <a:xfrm>
            <a:off x="548640" y="182880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Research Agent</a:t>
            </a:r>
            <a:endParaRPr lang="en-US" sz="4800" dirty="0"/>
          </a:p>
        </p:txBody>
      </p:sp>
      <p:sp>
        <p:nvSpPr>
          <p:cNvPr id="4" name="Shape 2"/>
          <p:cNvSpPr/>
          <p:nvPr/>
        </p:nvSpPr>
        <p:spPr>
          <a:xfrm>
            <a:off x="548640" y="2788920"/>
            <a:ext cx="457200" cy="36576"/>
          </a:xfrm>
          <a:prstGeom prst="rect">
            <a:avLst/>
          </a:prstGeom>
          <a:solidFill>
            <a:srgbClr val="F96167"/>
          </a:solidFill>
          <a:ln w="12700">
            <a:solidFill>
              <a:srgbClr val="F96167"/>
            </a:solidFill>
            <a:prstDash val="solid"/>
          </a:ln>
        </p:spPr>
      </p:sp>
      <p:sp>
        <p:nvSpPr>
          <p:cNvPr id="5" name="Text 3"/>
          <p:cNvSpPr/>
          <p:nvPr/>
        </p:nvSpPr>
        <p:spPr>
          <a:xfrm>
            <a:off x="548640" y="2926080"/>
            <a:ext cx="8229600" cy="3657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 14-Agent Multi-Agent System for AV / OT Cybersecurity Research</a:t>
            </a:r>
            <a:endParaRPr lang="en-US" sz="1800" dirty="0"/>
          </a:p>
        </p:txBody>
      </p:sp>
      <p:sp>
        <p:nvSpPr>
          <p:cNvPr id="6" name="Text 4"/>
          <p:cNvSpPr/>
          <p:nvPr/>
        </p:nvSpPr>
        <p:spPr>
          <a:xfrm>
            <a:off x="548640" y="3749040"/>
            <a:ext cx="8229600" cy="11887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Lamonte Smith</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Senior Software Design Release Engineer · General Motors</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DBA · AI/ML Leadership   ·   PhD · Technology, Cybersecurity   ·   Walsh College</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Milford, Michigan   ·   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Assignment</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IK Week 8 — Design an Enterprise Knowledge Research Agent</a:t>
            </a:r>
            <a:endParaRPr lang="en-US" sz="1100" dirty="0"/>
          </a:p>
        </p:txBody>
      </p:sp>
      <p:sp>
        <p:nvSpPr>
          <p:cNvPr id="5" name="Text 3"/>
          <p:cNvSpPr/>
          <p:nvPr/>
        </p:nvSpPr>
        <p:spPr>
          <a:xfrm>
            <a:off x="457200" y="1005840"/>
            <a:ext cx="411480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Problem</a:t>
            </a:r>
            <a:endParaRPr lang="en-US" sz="1600" dirty="0"/>
          </a:p>
        </p:txBody>
      </p:sp>
      <p:sp>
        <p:nvSpPr>
          <p:cNvPr id="6" name="Text 4"/>
          <p:cNvSpPr/>
          <p:nvPr/>
        </p:nvSpPr>
        <p:spPr>
          <a:xfrm>
            <a:off x="457200" y="1371600"/>
            <a:ext cx="4114800" cy="2286000"/>
          </a:xfrm>
          <a:prstGeom prst="rect">
            <a:avLst/>
          </a:prstGeom>
          <a:noFill/>
          <a:ln/>
        </p:spPr>
        <p:txBody>
          <a:bodyPr wrap="square" lIns="0" tIns="0" rIns="0" bIns="0" rtlCol="0" anchor="ctr"/>
          <a:lstStyle/>
          <a:p>
            <a:pPr indent="0" marL="0">
              <a:spcAft>
                <a:spcPts val="600"/>
              </a:spcAft>
              <a:buNone/>
            </a:pPr>
            <a:r>
              <a:rPr lang="en-US" sz="1300" dirty="0">
                <a:solidFill>
                  <a:srgbClr val="475569"/>
                </a:solidFill>
                <a:latin typeface="Calibri" pitchFamily="34" charset="0"/>
                <a:ea typeface="Calibri" pitchFamily="34" charset="-122"/>
                <a:cs typeface="Calibri" pitchFamily="34" charset="-120"/>
              </a:rPr>
              <a:t>Design an Agentic AI Research Assistant that helps enterprise employees answer complex questions across documents, wikis, meeting notes, project reports, product specifications, and roadmap content. The system must autonomously plan, retrieve, synthesize, and cite — without human intervention in the loop.</a:t>
            </a:r>
            <a:endParaRPr lang="en-US" sz="1300" dirty="0"/>
          </a:p>
        </p:txBody>
      </p:sp>
      <p:sp>
        <p:nvSpPr>
          <p:cNvPr id="7" name="Text 5"/>
          <p:cNvSpPr/>
          <p:nvPr/>
        </p:nvSpPr>
        <p:spPr>
          <a:xfrm>
            <a:off x="4846320" y="1005840"/>
            <a:ext cx="39319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Required deliverables</a:t>
            </a:r>
            <a:endParaRPr lang="en-US" sz="1600" dirty="0"/>
          </a:p>
        </p:txBody>
      </p:sp>
      <p:sp>
        <p:nvSpPr>
          <p:cNvPr id="8" name="Text 6"/>
          <p:cNvSpPr/>
          <p:nvPr/>
        </p:nvSpPr>
        <p:spPr>
          <a:xfrm>
            <a:off x="4846320" y="1417320"/>
            <a:ext cx="3931920" cy="228600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75569"/>
                </a:solidFill>
                <a:latin typeface="Calibri" pitchFamily="34" charset="0"/>
                <a:ea typeface="Calibri" pitchFamily="34" charset="-122"/>
                <a:cs typeface="Calibri" pitchFamily="34" charset="-120"/>
              </a:rPr>
              <a:t>Requirements</a:t>
            </a:r>
            <a:endParaRPr lang="en-US" sz="1300" dirty="0"/>
          </a:p>
          <a:p>
            <a:pPr marL="342900" indent="-342900">
              <a:spcAft>
                <a:spcPts val="400"/>
              </a:spcAft>
              <a:buSzPct val="100000"/>
              <a:buChar char="•"/>
            </a:pPr>
            <a:r>
              <a:rPr lang="en-US" sz="1300" dirty="0">
                <a:solidFill>
                  <a:srgbClr val="475569"/>
                </a:solidFill>
                <a:latin typeface="Calibri" pitchFamily="34" charset="0"/>
                <a:ea typeface="Calibri" pitchFamily="34" charset="-122"/>
                <a:cs typeface="Calibri" pitchFamily="34" charset="-120"/>
              </a:rPr>
              <a:t>Main system components</a:t>
            </a:r>
            <a:endParaRPr lang="en-US" sz="1300" dirty="0"/>
          </a:p>
          <a:p>
            <a:pPr marL="342900" indent="-342900">
              <a:spcAft>
                <a:spcPts val="400"/>
              </a:spcAft>
              <a:buSzPct val="100000"/>
              <a:buChar char="•"/>
            </a:pPr>
            <a:r>
              <a:rPr lang="en-US" sz="1300" dirty="0">
                <a:solidFill>
                  <a:srgbClr val="475569"/>
                </a:solidFill>
                <a:latin typeface="Calibri" pitchFamily="34" charset="0"/>
                <a:ea typeface="Calibri" pitchFamily="34" charset="-122"/>
                <a:cs typeface="Calibri" pitchFamily="34" charset="-120"/>
              </a:rPr>
              <a:t>Trade-offs</a:t>
            </a:r>
            <a:endParaRPr lang="en-US" sz="1300" dirty="0"/>
          </a:p>
          <a:p>
            <a:pPr marL="342900" indent="-342900">
              <a:spcAft>
                <a:spcPts val="400"/>
              </a:spcAft>
              <a:buSzPct val="100000"/>
              <a:buChar char="•"/>
            </a:pPr>
            <a:r>
              <a:rPr lang="en-US" sz="1300" dirty="0">
                <a:solidFill>
                  <a:srgbClr val="475569"/>
                </a:solidFill>
                <a:latin typeface="Calibri" pitchFamily="34" charset="0"/>
                <a:ea typeface="Calibri" pitchFamily="34" charset="-122"/>
                <a:cs typeface="Calibri" pitchFamily="34" charset="-120"/>
              </a:rPr>
              <a:t>Failure modes</a:t>
            </a:r>
            <a:endParaRPr lang="en-US" sz="1300" dirty="0"/>
          </a:p>
          <a:p>
            <a:pPr marL="342900" indent="-342900">
              <a:spcAft>
                <a:spcPts val="400"/>
              </a:spcAft>
              <a:buSzPct val="100000"/>
              <a:buChar char="•"/>
            </a:pPr>
            <a:r>
              <a:rPr lang="en-US" sz="1300" dirty="0">
                <a:solidFill>
                  <a:srgbClr val="475569"/>
                </a:solidFill>
                <a:latin typeface="Calibri" pitchFamily="34" charset="0"/>
                <a:ea typeface="Calibri" pitchFamily="34" charset="-122"/>
                <a:cs typeface="Calibri" pitchFamily="34" charset="-120"/>
              </a:rPr>
              <a:t>Observability &amp; feedback loops</a:t>
            </a:r>
            <a:endParaRPr lang="en-US" sz="1300" dirty="0"/>
          </a:p>
          <a:p>
            <a:pPr marL="342900" indent="-342900">
              <a:spcAft>
                <a:spcPts val="400"/>
              </a:spcAft>
              <a:buSzPct val="100000"/>
              <a:buChar char="•"/>
            </a:pPr>
            <a:r>
              <a:rPr lang="en-US" sz="1300" dirty="0">
                <a:solidFill>
                  <a:srgbClr val="475569"/>
                </a:solidFill>
                <a:latin typeface="Calibri" pitchFamily="34" charset="0"/>
                <a:ea typeface="Calibri" pitchFamily="34" charset="-122"/>
                <a:cs typeface="Calibri" pitchFamily="34" charset="-120"/>
              </a:rPr>
              <a:t>Productionization &amp; operations</a:t>
            </a:r>
            <a:endParaRPr lang="en-US" sz="1300" dirty="0"/>
          </a:p>
        </p:txBody>
      </p:sp>
      <p:sp>
        <p:nvSpPr>
          <p:cNvPr id="9" name="Text 7"/>
          <p:cNvSpPr/>
          <p:nvPr/>
        </p:nvSpPr>
        <p:spPr>
          <a:xfrm>
            <a:off x="457200" y="4160520"/>
            <a:ext cx="8229600" cy="411480"/>
          </a:xfrm>
          <a:prstGeom prst="rect">
            <a:avLst/>
          </a:prstGeom>
          <a:noFill/>
          <a:ln/>
        </p:spPr>
        <p:txBody>
          <a:bodyPr wrap="square" lIns="0" tIns="0" rIns="0" bIns="0"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All six sections addressed. Plus PRD, risk matrix, two n8n workflows, FastAPI service, and Streamlit dashboard.</a:t>
            </a:r>
            <a:endParaRPr lang="en-US" sz="1200" dirty="0"/>
          </a:p>
        </p:txBody>
      </p:sp>
      <p:sp>
        <p:nvSpPr>
          <p:cNvPr id="10" name="Text 8"/>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Architecture</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Six layers · 14 agents · two n8n workflows · external tool calling</a:t>
            </a:r>
            <a:endParaRPr lang="en-US" sz="1100" dirty="0"/>
          </a:p>
        </p:txBody>
      </p:sp>
      <p:pic>
        <p:nvPicPr>
          <p:cNvPr id="5" name="Image 0" descr="/home/claude/eka/diagrams/architecture.sv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274320" y="914400"/>
            <a:ext cx="8595360" cy="3840480"/>
          </a:xfrm>
          <a:prstGeom prst="rect">
            <a:avLst/>
          </a:prstGeom>
        </p:spPr>
      </p:pic>
      <p:sp>
        <p:nvSpPr>
          <p:cNvPr id="6" name="Text 3"/>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14 Agents</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Each agent has a single responsibility, typed contract, and security-hardened prompt</a:t>
            </a:r>
            <a:endParaRPr lang="en-US" sz="1100" dirty="0"/>
          </a:p>
        </p:txBody>
      </p:sp>
      <p:sp>
        <p:nvSpPr>
          <p:cNvPr id="5" name="Shape 3"/>
          <p:cNvSpPr/>
          <p:nvPr/>
        </p:nvSpPr>
        <p:spPr>
          <a:xfrm>
            <a:off x="365760" y="960120"/>
            <a:ext cx="73152" cy="365760"/>
          </a:xfrm>
          <a:prstGeom prst="rect">
            <a:avLst/>
          </a:prstGeom>
          <a:solidFill>
            <a:srgbClr val="1E2761"/>
          </a:solidFill>
          <a:ln w="12700">
            <a:solidFill>
              <a:srgbClr val="1E2761"/>
            </a:solidFill>
            <a:prstDash val="solid"/>
          </a:ln>
        </p:spPr>
      </p:sp>
      <p:sp>
        <p:nvSpPr>
          <p:cNvPr id="6" name="Text 4"/>
          <p:cNvSpPr/>
          <p:nvPr/>
        </p:nvSpPr>
        <p:spPr>
          <a:xfrm>
            <a:off x="512064" y="9601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 QueryClassifier</a:t>
            </a:r>
            <a:endParaRPr lang="en-US" sz="1100" dirty="0"/>
          </a:p>
        </p:txBody>
      </p:sp>
      <p:sp>
        <p:nvSpPr>
          <p:cNvPr id="7" name="Text 5"/>
          <p:cNvSpPr/>
          <p:nvPr/>
        </p:nvSpPr>
        <p:spPr>
          <a:xfrm>
            <a:off x="2103120" y="9601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Category + sensitivity + agent roster</a:t>
            </a:r>
            <a:endParaRPr lang="en-US" sz="1000" dirty="0"/>
          </a:p>
        </p:txBody>
      </p:sp>
      <p:sp>
        <p:nvSpPr>
          <p:cNvPr id="8" name="Shape 6"/>
          <p:cNvSpPr/>
          <p:nvPr/>
        </p:nvSpPr>
        <p:spPr>
          <a:xfrm>
            <a:off x="365760" y="1417320"/>
            <a:ext cx="73152" cy="365760"/>
          </a:xfrm>
          <a:prstGeom prst="rect">
            <a:avLst/>
          </a:prstGeom>
          <a:solidFill>
            <a:srgbClr val="1E2761"/>
          </a:solidFill>
          <a:ln w="12700">
            <a:solidFill>
              <a:srgbClr val="1E2761"/>
            </a:solidFill>
            <a:prstDash val="solid"/>
          </a:ln>
        </p:spPr>
      </p:sp>
      <p:sp>
        <p:nvSpPr>
          <p:cNvPr id="9" name="Text 7"/>
          <p:cNvSpPr/>
          <p:nvPr/>
        </p:nvSpPr>
        <p:spPr>
          <a:xfrm>
            <a:off x="512064" y="14173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2. Planner</a:t>
            </a:r>
            <a:endParaRPr lang="en-US" sz="1100" dirty="0"/>
          </a:p>
        </p:txBody>
      </p:sp>
      <p:sp>
        <p:nvSpPr>
          <p:cNvPr id="10" name="Text 8"/>
          <p:cNvSpPr/>
          <p:nvPr/>
        </p:nvSpPr>
        <p:spPr>
          <a:xfrm>
            <a:off x="2103120" y="14173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Decomposes query into ordered steps</a:t>
            </a:r>
            <a:endParaRPr lang="en-US" sz="1000" dirty="0"/>
          </a:p>
        </p:txBody>
      </p:sp>
      <p:sp>
        <p:nvSpPr>
          <p:cNvPr id="11" name="Shape 9"/>
          <p:cNvSpPr/>
          <p:nvPr/>
        </p:nvSpPr>
        <p:spPr>
          <a:xfrm>
            <a:off x="365760" y="1874520"/>
            <a:ext cx="73152" cy="365760"/>
          </a:xfrm>
          <a:prstGeom prst="rect">
            <a:avLst/>
          </a:prstGeom>
          <a:solidFill>
            <a:srgbClr val="1E2761"/>
          </a:solidFill>
          <a:ln w="12700">
            <a:solidFill>
              <a:srgbClr val="1E2761"/>
            </a:solidFill>
            <a:prstDash val="solid"/>
          </a:ln>
        </p:spPr>
      </p:sp>
      <p:sp>
        <p:nvSpPr>
          <p:cNvPr id="12" name="Text 10"/>
          <p:cNvSpPr/>
          <p:nvPr/>
        </p:nvSpPr>
        <p:spPr>
          <a:xfrm>
            <a:off x="512064" y="18745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3. Retriever</a:t>
            </a:r>
            <a:endParaRPr lang="en-US" sz="1100" dirty="0"/>
          </a:p>
        </p:txBody>
      </p:sp>
      <p:sp>
        <p:nvSpPr>
          <p:cNvPr id="13" name="Text 11"/>
          <p:cNvSpPr/>
          <p:nvPr/>
        </p:nvSpPr>
        <p:spPr>
          <a:xfrm>
            <a:off x="2103120" y="18745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RAG over ChromaDB, role-filtered</a:t>
            </a:r>
            <a:endParaRPr lang="en-US" sz="1000" dirty="0"/>
          </a:p>
        </p:txBody>
      </p:sp>
      <p:sp>
        <p:nvSpPr>
          <p:cNvPr id="14" name="Shape 12"/>
          <p:cNvSpPr/>
          <p:nvPr/>
        </p:nvSpPr>
        <p:spPr>
          <a:xfrm>
            <a:off x="365760" y="2331720"/>
            <a:ext cx="73152" cy="365760"/>
          </a:xfrm>
          <a:prstGeom prst="rect">
            <a:avLst/>
          </a:prstGeom>
          <a:solidFill>
            <a:srgbClr val="1E2761"/>
          </a:solidFill>
          <a:ln w="12700">
            <a:solidFill>
              <a:srgbClr val="1E2761"/>
            </a:solidFill>
            <a:prstDash val="solid"/>
          </a:ln>
        </p:spPr>
      </p:sp>
      <p:sp>
        <p:nvSpPr>
          <p:cNvPr id="15" name="Text 13"/>
          <p:cNvSpPr/>
          <p:nvPr/>
        </p:nvSpPr>
        <p:spPr>
          <a:xfrm>
            <a:off x="512064" y="23317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4. WebSearch</a:t>
            </a:r>
            <a:endParaRPr lang="en-US" sz="1100" dirty="0"/>
          </a:p>
        </p:txBody>
      </p:sp>
      <p:sp>
        <p:nvSpPr>
          <p:cNvPr id="16" name="Text 14"/>
          <p:cNvSpPr/>
          <p:nvPr/>
        </p:nvSpPr>
        <p:spPr>
          <a:xfrm>
            <a:off x="2103120" y="23317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External tool: SerpAPI fallback</a:t>
            </a:r>
            <a:endParaRPr lang="en-US" sz="1000" dirty="0"/>
          </a:p>
        </p:txBody>
      </p:sp>
      <p:sp>
        <p:nvSpPr>
          <p:cNvPr id="17" name="Shape 15"/>
          <p:cNvSpPr/>
          <p:nvPr/>
        </p:nvSpPr>
        <p:spPr>
          <a:xfrm>
            <a:off x="365760" y="2788920"/>
            <a:ext cx="73152" cy="365760"/>
          </a:xfrm>
          <a:prstGeom prst="rect">
            <a:avLst/>
          </a:prstGeom>
          <a:solidFill>
            <a:srgbClr val="1E2761"/>
          </a:solidFill>
          <a:ln w="12700">
            <a:solidFill>
              <a:srgbClr val="1E2761"/>
            </a:solidFill>
            <a:prstDash val="solid"/>
          </a:ln>
        </p:spPr>
      </p:sp>
      <p:sp>
        <p:nvSpPr>
          <p:cNvPr id="18" name="Text 16"/>
          <p:cNvSpPr/>
          <p:nvPr/>
        </p:nvSpPr>
        <p:spPr>
          <a:xfrm>
            <a:off x="512064" y="27889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5. ThreatIntel</a:t>
            </a:r>
            <a:endParaRPr lang="en-US" sz="1100" dirty="0"/>
          </a:p>
        </p:txBody>
      </p:sp>
      <p:sp>
        <p:nvSpPr>
          <p:cNvPr id="19" name="Text 17"/>
          <p:cNvSpPr/>
          <p:nvPr/>
        </p:nvSpPr>
        <p:spPr>
          <a:xfrm>
            <a:off x="2103120" y="27889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External tool: NVD CVE + MITRE ATT&amp;CK</a:t>
            </a:r>
            <a:endParaRPr lang="en-US" sz="1000" dirty="0"/>
          </a:p>
        </p:txBody>
      </p:sp>
      <p:sp>
        <p:nvSpPr>
          <p:cNvPr id="20" name="Shape 18"/>
          <p:cNvSpPr/>
          <p:nvPr/>
        </p:nvSpPr>
        <p:spPr>
          <a:xfrm>
            <a:off x="365760" y="3246120"/>
            <a:ext cx="73152" cy="365760"/>
          </a:xfrm>
          <a:prstGeom prst="rect">
            <a:avLst/>
          </a:prstGeom>
          <a:solidFill>
            <a:srgbClr val="1E2761"/>
          </a:solidFill>
          <a:ln w="12700">
            <a:solidFill>
              <a:srgbClr val="1E2761"/>
            </a:solidFill>
            <a:prstDash val="solid"/>
          </a:ln>
        </p:spPr>
      </p:sp>
      <p:sp>
        <p:nvSpPr>
          <p:cNvPr id="21" name="Text 19"/>
          <p:cNvSpPr/>
          <p:nvPr/>
        </p:nvSpPr>
        <p:spPr>
          <a:xfrm>
            <a:off x="512064" y="32461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6. GapDetection</a:t>
            </a:r>
            <a:endParaRPr lang="en-US" sz="1100" dirty="0"/>
          </a:p>
        </p:txBody>
      </p:sp>
      <p:sp>
        <p:nvSpPr>
          <p:cNvPr id="22" name="Text 20"/>
          <p:cNvSpPr/>
          <p:nvPr/>
        </p:nvSpPr>
        <p:spPr>
          <a:xfrm>
            <a:off x="2103120" y="32461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What the corpus does not cover</a:t>
            </a:r>
            <a:endParaRPr lang="en-US" sz="1000" dirty="0"/>
          </a:p>
        </p:txBody>
      </p:sp>
      <p:sp>
        <p:nvSpPr>
          <p:cNvPr id="23" name="Shape 21"/>
          <p:cNvSpPr/>
          <p:nvPr/>
        </p:nvSpPr>
        <p:spPr>
          <a:xfrm>
            <a:off x="365760" y="3703320"/>
            <a:ext cx="73152" cy="365760"/>
          </a:xfrm>
          <a:prstGeom prst="rect">
            <a:avLst/>
          </a:prstGeom>
          <a:solidFill>
            <a:srgbClr val="1E2761"/>
          </a:solidFill>
          <a:ln w="12700">
            <a:solidFill>
              <a:srgbClr val="1E2761"/>
            </a:solidFill>
            <a:prstDash val="solid"/>
          </a:ln>
        </p:spPr>
      </p:sp>
      <p:sp>
        <p:nvSpPr>
          <p:cNvPr id="24" name="Text 22"/>
          <p:cNvSpPr/>
          <p:nvPr/>
        </p:nvSpPr>
        <p:spPr>
          <a:xfrm>
            <a:off x="512064" y="37033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7. CybersecFramework</a:t>
            </a:r>
            <a:endParaRPr lang="en-US" sz="1100" dirty="0"/>
          </a:p>
        </p:txBody>
      </p:sp>
      <p:sp>
        <p:nvSpPr>
          <p:cNvPr id="25" name="Text 23"/>
          <p:cNvSpPr/>
          <p:nvPr/>
        </p:nvSpPr>
        <p:spPr>
          <a:xfrm>
            <a:off x="2103120" y="37033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NIST CSF 2.0 + ATT&amp;CK for ICS</a:t>
            </a:r>
            <a:endParaRPr lang="en-US" sz="1000" dirty="0"/>
          </a:p>
        </p:txBody>
      </p:sp>
      <p:sp>
        <p:nvSpPr>
          <p:cNvPr id="26" name="Shape 24"/>
          <p:cNvSpPr/>
          <p:nvPr/>
        </p:nvSpPr>
        <p:spPr>
          <a:xfrm>
            <a:off x="4754880" y="960120"/>
            <a:ext cx="73152" cy="365760"/>
          </a:xfrm>
          <a:prstGeom prst="rect">
            <a:avLst/>
          </a:prstGeom>
          <a:solidFill>
            <a:srgbClr val="1E2761"/>
          </a:solidFill>
          <a:ln w="12700">
            <a:solidFill>
              <a:srgbClr val="1E2761"/>
            </a:solidFill>
            <a:prstDash val="solid"/>
          </a:ln>
        </p:spPr>
      </p:sp>
      <p:sp>
        <p:nvSpPr>
          <p:cNvPr id="27" name="Text 25"/>
          <p:cNvSpPr/>
          <p:nvPr/>
        </p:nvSpPr>
        <p:spPr>
          <a:xfrm>
            <a:off x="4901184" y="9601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8. Compliance</a:t>
            </a:r>
            <a:endParaRPr lang="en-US" sz="1100" dirty="0"/>
          </a:p>
        </p:txBody>
      </p:sp>
      <p:sp>
        <p:nvSpPr>
          <p:cNvPr id="28" name="Text 26"/>
          <p:cNvSpPr/>
          <p:nvPr/>
        </p:nvSpPr>
        <p:spPr>
          <a:xfrm>
            <a:off x="6492240" y="9601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ISO 21434, UNECE WP.29, NIST 800-82</a:t>
            </a:r>
            <a:endParaRPr lang="en-US" sz="1000" dirty="0"/>
          </a:p>
        </p:txBody>
      </p:sp>
      <p:sp>
        <p:nvSpPr>
          <p:cNvPr id="29" name="Shape 27"/>
          <p:cNvSpPr/>
          <p:nvPr/>
        </p:nvSpPr>
        <p:spPr>
          <a:xfrm>
            <a:off x="4754880" y="1417320"/>
            <a:ext cx="73152" cy="365760"/>
          </a:xfrm>
          <a:prstGeom prst="rect">
            <a:avLst/>
          </a:prstGeom>
          <a:solidFill>
            <a:srgbClr val="1E2761"/>
          </a:solidFill>
          <a:ln w="12700">
            <a:solidFill>
              <a:srgbClr val="1E2761"/>
            </a:solidFill>
            <a:prstDash val="solid"/>
          </a:ln>
        </p:spPr>
      </p:sp>
      <p:sp>
        <p:nvSpPr>
          <p:cNvPr id="30" name="Text 28"/>
          <p:cNvSpPr/>
          <p:nvPr/>
        </p:nvSpPr>
        <p:spPr>
          <a:xfrm>
            <a:off x="4901184" y="14173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9. Citation</a:t>
            </a:r>
            <a:endParaRPr lang="en-US" sz="1100" dirty="0"/>
          </a:p>
        </p:txBody>
      </p:sp>
      <p:sp>
        <p:nvSpPr>
          <p:cNvPr id="31" name="Text 29"/>
          <p:cNvSpPr/>
          <p:nvPr/>
        </p:nvSpPr>
        <p:spPr>
          <a:xfrm>
            <a:off x="6492240" y="14173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Traces every claim to a source</a:t>
            </a:r>
            <a:endParaRPr lang="en-US" sz="1000" dirty="0"/>
          </a:p>
        </p:txBody>
      </p:sp>
      <p:sp>
        <p:nvSpPr>
          <p:cNvPr id="32" name="Shape 30"/>
          <p:cNvSpPr/>
          <p:nvPr/>
        </p:nvSpPr>
        <p:spPr>
          <a:xfrm>
            <a:off x="4754880" y="1874520"/>
            <a:ext cx="73152" cy="365760"/>
          </a:xfrm>
          <a:prstGeom prst="rect">
            <a:avLst/>
          </a:prstGeom>
          <a:solidFill>
            <a:srgbClr val="1E2761"/>
          </a:solidFill>
          <a:ln w="12700">
            <a:solidFill>
              <a:srgbClr val="1E2761"/>
            </a:solidFill>
            <a:prstDash val="solid"/>
          </a:ln>
        </p:spPr>
      </p:sp>
      <p:sp>
        <p:nvSpPr>
          <p:cNvPr id="33" name="Text 31"/>
          <p:cNvSpPr/>
          <p:nvPr/>
        </p:nvSpPr>
        <p:spPr>
          <a:xfrm>
            <a:off x="4901184" y="18745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10. Synthesizer</a:t>
            </a:r>
            <a:endParaRPr lang="en-US" sz="1100" dirty="0"/>
          </a:p>
        </p:txBody>
      </p:sp>
      <p:sp>
        <p:nvSpPr>
          <p:cNvPr id="34" name="Text 32"/>
          <p:cNvSpPr/>
          <p:nvPr/>
        </p:nvSpPr>
        <p:spPr>
          <a:xfrm>
            <a:off x="6492240" y="18745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Executive summary + insights + actions</a:t>
            </a:r>
            <a:endParaRPr lang="en-US" sz="1000" dirty="0"/>
          </a:p>
        </p:txBody>
      </p:sp>
      <p:sp>
        <p:nvSpPr>
          <p:cNvPr id="35" name="Shape 33"/>
          <p:cNvSpPr/>
          <p:nvPr/>
        </p:nvSpPr>
        <p:spPr>
          <a:xfrm>
            <a:off x="4754880" y="2331720"/>
            <a:ext cx="73152" cy="365760"/>
          </a:xfrm>
          <a:prstGeom prst="rect">
            <a:avLst/>
          </a:prstGeom>
          <a:solidFill>
            <a:srgbClr val="1E2761"/>
          </a:solidFill>
          <a:ln w="12700">
            <a:solidFill>
              <a:srgbClr val="1E2761"/>
            </a:solidFill>
            <a:prstDash val="solid"/>
          </a:ln>
        </p:spPr>
      </p:sp>
      <p:sp>
        <p:nvSpPr>
          <p:cNvPr id="36" name="Text 34"/>
          <p:cNvSpPr/>
          <p:nvPr/>
        </p:nvSpPr>
        <p:spPr>
          <a:xfrm>
            <a:off x="4901184" y="23317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11. Evaluation</a:t>
            </a:r>
            <a:endParaRPr lang="en-US" sz="1100" dirty="0"/>
          </a:p>
        </p:txBody>
      </p:sp>
      <p:sp>
        <p:nvSpPr>
          <p:cNvPr id="37" name="Text 35"/>
          <p:cNvSpPr/>
          <p:nvPr/>
        </p:nvSpPr>
        <p:spPr>
          <a:xfrm>
            <a:off x="6492240" y="23317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LLM-as-judge, 5 dimensions</a:t>
            </a:r>
            <a:endParaRPr lang="en-US" sz="1000" dirty="0"/>
          </a:p>
        </p:txBody>
      </p:sp>
      <p:sp>
        <p:nvSpPr>
          <p:cNvPr id="38" name="Shape 36"/>
          <p:cNvSpPr/>
          <p:nvPr/>
        </p:nvSpPr>
        <p:spPr>
          <a:xfrm>
            <a:off x="4754880" y="2788920"/>
            <a:ext cx="73152" cy="365760"/>
          </a:xfrm>
          <a:prstGeom prst="rect">
            <a:avLst/>
          </a:prstGeom>
          <a:solidFill>
            <a:srgbClr val="1E2761"/>
          </a:solidFill>
          <a:ln w="12700">
            <a:solidFill>
              <a:srgbClr val="1E2761"/>
            </a:solidFill>
            <a:prstDash val="solid"/>
          </a:ln>
        </p:spPr>
      </p:sp>
      <p:sp>
        <p:nvSpPr>
          <p:cNvPr id="39" name="Text 37"/>
          <p:cNvSpPr/>
          <p:nvPr/>
        </p:nvSpPr>
        <p:spPr>
          <a:xfrm>
            <a:off x="4901184" y="27889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12. ConfidenceTracker</a:t>
            </a:r>
            <a:endParaRPr lang="en-US" sz="1100" dirty="0"/>
          </a:p>
        </p:txBody>
      </p:sp>
      <p:sp>
        <p:nvSpPr>
          <p:cNvPr id="40" name="Text 38"/>
          <p:cNvSpPr/>
          <p:nvPr/>
        </p:nvSpPr>
        <p:spPr>
          <a:xfrm>
            <a:off x="6492240" y="27889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Aggregate score → block or escalate</a:t>
            </a:r>
            <a:endParaRPr lang="en-US" sz="1000" dirty="0"/>
          </a:p>
        </p:txBody>
      </p:sp>
      <p:sp>
        <p:nvSpPr>
          <p:cNvPr id="41" name="Shape 39"/>
          <p:cNvSpPr/>
          <p:nvPr/>
        </p:nvSpPr>
        <p:spPr>
          <a:xfrm>
            <a:off x="4754880" y="3246120"/>
            <a:ext cx="73152" cy="365760"/>
          </a:xfrm>
          <a:prstGeom prst="rect">
            <a:avLst/>
          </a:prstGeom>
          <a:solidFill>
            <a:srgbClr val="1E2761"/>
          </a:solidFill>
          <a:ln w="12700">
            <a:solidFill>
              <a:srgbClr val="1E2761"/>
            </a:solidFill>
            <a:prstDash val="solid"/>
          </a:ln>
        </p:spPr>
      </p:sp>
      <p:sp>
        <p:nvSpPr>
          <p:cNvPr id="42" name="Text 40"/>
          <p:cNvSpPr/>
          <p:nvPr/>
        </p:nvSpPr>
        <p:spPr>
          <a:xfrm>
            <a:off x="4901184" y="32461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13. Observability</a:t>
            </a:r>
            <a:endParaRPr lang="en-US" sz="1100" dirty="0"/>
          </a:p>
        </p:txBody>
      </p:sp>
      <p:sp>
        <p:nvSpPr>
          <p:cNvPr id="43" name="Text 41"/>
          <p:cNvSpPr/>
          <p:nvPr/>
        </p:nvSpPr>
        <p:spPr>
          <a:xfrm>
            <a:off x="6492240" y="32461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Latency, cost, drift anomaly detection</a:t>
            </a:r>
            <a:endParaRPr lang="en-US" sz="1000" dirty="0"/>
          </a:p>
        </p:txBody>
      </p:sp>
      <p:sp>
        <p:nvSpPr>
          <p:cNvPr id="44" name="Shape 42"/>
          <p:cNvSpPr/>
          <p:nvPr/>
        </p:nvSpPr>
        <p:spPr>
          <a:xfrm>
            <a:off x="4754880" y="3703320"/>
            <a:ext cx="73152" cy="365760"/>
          </a:xfrm>
          <a:prstGeom prst="rect">
            <a:avLst/>
          </a:prstGeom>
          <a:solidFill>
            <a:srgbClr val="1E2761"/>
          </a:solidFill>
          <a:ln w="12700">
            <a:solidFill>
              <a:srgbClr val="1E2761"/>
            </a:solidFill>
            <a:prstDash val="solid"/>
          </a:ln>
        </p:spPr>
      </p:sp>
      <p:sp>
        <p:nvSpPr>
          <p:cNvPr id="45" name="Text 43"/>
          <p:cNvSpPr/>
          <p:nvPr/>
        </p:nvSpPr>
        <p:spPr>
          <a:xfrm>
            <a:off x="4901184" y="3703320"/>
            <a:ext cx="1554480" cy="36576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14. QueryAudit</a:t>
            </a:r>
            <a:endParaRPr lang="en-US" sz="1100" dirty="0"/>
          </a:p>
        </p:txBody>
      </p:sp>
      <p:sp>
        <p:nvSpPr>
          <p:cNvPr id="46" name="Text 44"/>
          <p:cNvSpPr/>
          <p:nvPr/>
        </p:nvSpPr>
        <p:spPr>
          <a:xfrm>
            <a:off x="6492240" y="3703320"/>
            <a:ext cx="2286000" cy="36576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Immutable audit log, sensitive pattern flags</a:t>
            </a:r>
            <a:endParaRPr lang="en-US" sz="1000" dirty="0"/>
          </a:p>
        </p:txBody>
      </p:sp>
      <p:sp>
        <p:nvSpPr>
          <p:cNvPr id="47" name="Text 45"/>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Trade-Offs</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Seven decisions, made explicit, recorded in the design doc</a:t>
            </a:r>
            <a:endParaRPr lang="en-US" sz="1100" dirty="0"/>
          </a:p>
        </p:txBody>
      </p:sp>
      <p:sp>
        <p:nvSpPr>
          <p:cNvPr id="5" name="Text 3"/>
          <p:cNvSpPr/>
          <p:nvPr/>
        </p:nvSpPr>
        <p:spPr>
          <a:xfrm>
            <a:off x="457200" y="1005840"/>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RAG vs fine-tuning</a:t>
            </a:r>
            <a:endParaRPr lang="en-US" sz="1200" dirty="0"/>
          </a:p>
        </p:txBody>
      </p:sp>
      <p:sp>
        <p:nvSpPr>
          <p:cNvPr id="6" name="Text 4"/>
          <p:cNvSpPr/>
          <p:nvPr/>
        </p:nvSpPr>
        <p:spPr>
          <a:xfrm>
            <a:off x="2926080" y="1005840"/>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RAG — small corpus changes weekly; citations need discrete docs; restricted training data risk</a:t>
            </a:r>
            <a:endParaRPr lang="en-US" sz="1100" dirty="0"/>
          </a:p>
        </p:txBody>
      </p:sp>
      <p:sp>
        <p:nvSpPr>
          <p:cNvPr id="7" name="Text 5"/>
          <p:cNvSpPr/>
          <p:nvPr/>
        </p:nvSpPr>
        <p:spPr>
          <a:xfrm>
            <a:off x="457200" y="1536192"/>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ChromaDB vs managed</a:t>
            </a:r>
            <a:endParaRPr lang="en-US" sz="1200" dirty="0"/>
          </a:p>
        </p:txBody>
      </p:sp>
      <p:sp>
        <p:nvSpPr>
          <p:cNvPr id="8" name="Text 6"/>
          <p:cNvSpPr/>
          <p:nvPr/>
        </p:nvSpPr>
        <p:spPr>
          <a:xfrm>
            <a:off x="2926080" y="1536192"/>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ChromaDB local for reproducibility; migrate at ~100k docs or multi-tenant</a:t>
            </a:r>
            <a:endParaRPr lang="en-US" sz="1100" dirty="0"/>
          </a:p>
        </p:txBody>
      </p:sp>
      <p:sp>
        <p:nvSpPr>
          <p:cNvPr id="9" name="Text 7"/>
          <p:cNvSpPr/>
          <p:nvPr/>
        </p:nvSpPr>
        <p:spPr>
          <a:xfrm>
            <a:off x="457200" y="2066544"/>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Sequential vs graph orchestrator</a:t>
            </a:r>
            <a:endParaRPr lang="en-US" sz="1200" dirty="0"/>
          </a:p>
        </p:txBody>
      </p:sp>
      <p:sp>
        <p:nvSpPr>
          <p:cNvPr id="10" name="Text 8"/>
          <p:cNvSpPr/>
          <p:nvPr/>
        </p:nvSpPr>
        <p:spPr>
          <a:xfrm>
            <a:off x="2926080" y="2066544"/>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Sequential — debuggable, auditable; LangGraph migration is v2</a:t>
            </a:r>
            <a:endParaRPr lang="en-US" sz="1100" dirty="0"/>
          </a:p>
        </p:txBody>
      </p:sp>
      <p:sp>
        <p:nvSpPr>
          <p:cNvPr id="11" name="Text 9"/>
          <p:cNvSpPr/>
          <p:nvPr/>
        </p:nvSpPr>
        <p:spPr>
          <a:xfrm>
            <a:off x="457200" y="2596896"/>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14 agents vs fewer</a:t>
            </a:r>
            <a:endParaRPr lang="en-US" sz="1200" dirty="0"/>
          </a:p>
        </p:txBody>
      </p:sp>
      <p:sp>
        <p:nvSpPr>
          <p:cNvPr id="12" name="Text 10"/>
          <p:cNvSpPr/>
          <p:nvPr/>
        </p:nvSpPr>
        <p:spPr>
          <a:xfrm>
            <a:off x="2926080" y="2596896"/>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Single-responsibility per agent enables independent testing; cost is linear</a:t>
            </a:r>
            <a:endParaRPr lang="en-US" sz="1100" dirty="0"/>
          </a:p>
        </p:txBody>
      </p:sp>
      <p:sp>
        <p:nvSpPr>
          <p:cNvPr id="13" name="Text 11"/>
          <p:cNvSpPr/>
          <p:nvPr/>
        </p:nvSpPr>
        <p:spPr>
          <a:xfrm>
            <a:off x="457200" y="3127248"/>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gpt-4o-mini vs gpt-4o</a:t>
            </a:r>
            <a:endParaRPr lang="en-US" sz="1200" dirty="0"/>
          </a:p>
        </p:txBody>
      </p:sp>
      <p:sp>
        <p:nvSpPr>
          <p:cNvPr id="14" name="Text 12"/>
          <p:cNvSpPr/>
          <p:nvPr/>
        </p:nvSpPr>
        <p:spPr>
          <a:xfrm>
            <a:off x="2926080" y="3127248"/>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Mini for routing/classification; full for synthesis + eval; ~4x cost savings</a:t>
            </a:r>
            <a:endParaRPr lang="en-US" sz="1100" dirty="0"/>
          </a:p>
        </p:txBody>
      </p:sp>
      <p:sp>
        <p:nvSpPr>
          <p:cNvPr id="15" name="Text 13"/>
          <p:cNvSpPr/>
          <p:nvPr/>
        </p:nvSpPr>
        <p:spPr>
          <a:xfrm>
            <a:off x="457200" y="3657600"/>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Sync vs async pipeline</a:t>
            </a:r>
            <a:endParaRPr lang="en-US" sz="1200" dirty="0"/>
          </a:p>
        </p:txBody>
      </p:sp>
      <p:sp>
        <p:nvSpPr>
          <p:cNvPr id="16" name="Text 14"/>
          <p:cNvSpPr/>
          <p:nvPr/>
        </p:nvSpPr>
        <p:spPr>
          <a:xfrm>
            <a:off x="2926080" y="3657600"/>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Synchronous for analyst latency; async migration when throughput dominates</a:t>
            </a:r>
            <a:endParaRPr lang="en-US" sz="1100" dirty="0"/>
          </a:p>
        </p:txBody>
      </p:sp>
      <p:sp>
        <p:nvSpPr>
          <p:cNvPr id="17" name="Text 15"/>
          <p:cNvSpPr/>
          <p:nvPr/>
        </p:nvSpPr>
        <p:spPr>
          <a:xfrm>
            <a:off x="457200" y="4187952"/>
            <a:ext cx="237744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Direct API vs aggregator</a:t>
            </a:r>
            <a:endParaRPr lang="en-US" sz="1200" dirty="0"/>
          </a:p>
        </p:txBody>
      </p:sp>
      <p:sp>
        <p:nvSpPr>
          <p:cNvPr id="18" name="Text 16"/>
          <p:cNvSpPr/>
          <p:nvPr/>
        </p:nvSpPr>
        <p:spPr>
          <a:xfrm>
            <a:off x="2926080" y="4187952"/>
            <a:ext cx="585216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Direct NVD/CISA for latency and vendor independence; abstraction layer for v2</a:t>
            </a:r>
            <a:endParaRPr lang="en-US" sz="1100" dirty="0"/>
          </a:p>
        </p:txBody>
      </p:sp>
      <p:sp>
        <p:nvSpPr>
          <p:cNvPr id="19" name="Text 17"/>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Failure Modes</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Seven categories — each with current mitigation and production hardening</a:t>
            </a:r>
            <a:endParaRPr lang="en-US" sz="1100" dirty="0"/>
          </a:p>
        </p:txBody>
      </p:sp>
      <p:sp>
        <p:nvSpPr>
          <p:cNvPr id="5" name="Shape 3"/>
          <p:cNvSpPr/>
          <p:nvPr/>
        </p:nvSpPr>
        <p:spPr>
          <a:xfrm>
            <a:off x="365760" y="1005840"/>
            <a:ext cx="1645920" cy="411480"/>
          </a:xfrm>
          <a:prstGeom prst="rect">
            <a:avLst/>
          </a:prstGeom>
          <a:solidFill>
            <a:srgbClr val="1E2761"/>
          </a:solidFill>
          <a:ln w="12700">
            <a:solidFill>
              <a:srgbClr val="1E2761"/>
            </a:solidFill>
            <a:prstDash val="solid"/>
          </a:ln>
        </p:spPr>
      </p:sp>
      <p:sp>
        <p:nvSpPr>
          <p:cNvPr id="6" name="Text 4"/>
          <p:cNvSpPr/>
          <p:nvPr/>
        </p:nvSpPr>
        <p:spPr>
          <a:xfrm>
            <a:off x="457200" y="1005840"/>
            <a:ext cx="14630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p>
        </p:txBody>
      </p:sp>
      <p:sp>
        <p:nvSpPr>
          <p:cNvPr id="7" name="Shape 5"/>
          <p:cNvSpPr/>
          <p:nvPr/>
        </p:nvSpPr>
        <p:spPr>
          <a:xfrm>
            <a:off x="2011680" y="1005840"/>
            <a:ext cx="3383280" cy="411480"/>
          </a:xfrm>
          <a:prstGeom prst="rect">
            <a:avLst/>
          </a:prstGeom>
          <a:solidFill>
            <a:srgbClr val="1E2761"/>
          </a:solidFill>
          <a:ln w="12700">
            <a:solidFill>
              <a:srgbClr val="1E2761"/>
            </a:solidFill>
            <a:prstDash val="solid"/>
          </a:ln>
        </p:spPr>
      </p:sp>
      <p:sp>
        <p:nvSpPr>
          <p:cNvPr id="8" name="Text 6"/>
          <p:cNvSpPr/>
          <p:nvPr/>
        </p:nvSpPr>
        <p:spPr>
          <a:xfrm>
            <a:off x="2103120" y="1005840"/>
            <a:ext cx="320040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Current mitigation</a:t>
            </a:r>
            <a:endParaRPr lang="en-US" sz="1100" dirty="0"/>
          </a:p>
        </p:txBody>
      </p:sp>
      <p:sp>
        <p:nvSpPr>
          <p:cNvPr id="9" name="Shape 7"/>
          <p:cNvSpPr/>
          <p:nvPr/>
        </p:nvSpPr>
        <p:spPr>
          <a:xfrm>
            <a:off x="5394960" y="1005840"/>
            <a:ext cx="3383280" cy="411480"/>
          </a:xfrm>
          <a:prstGeom prst="rect">
            <a:avLst/>
          </a:prstGeom>
          <a:solidFill>
            <a:srgbClr val="1E2761"/>
          </a:solidFill>
          <a:ln w="12700">
            <a:solidFill>
              <a:srgbClr val="1E2761"/>
            </a:solidFill>
            <a:prstDash val="solid"/>
          </a:ln>
        </p:spPr>
      </p:sp>
      <p:sp>
        <p:nvSpPr>
          <p:cNvPr id="10" name="Text 8"/>
          <p:cNvSpPr/>
          <p:nvPr/>
        </p:nvSpPr>
        <p:spPr>
          <a:xfrm>
            <a:off x="5486400" y="1005840"/>
            <a:ext cx="320040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Production hardening</a:t>
            </a:r>
            <a:endParaRPr lang="en-US" sz="1100" dirty="0"/>
          </a:p>
        </p:txBody>
      </p:sp>
      <p:sp>
        <p:nvSpPr>
          <p:cNvPr id="11" name="Shape 9"/>
          <p:cNvSpPr/>
          <p:nvPr/>
        </p:nvSpPr>
        <p:spPr>
          <a:xfrm>
            <a:off x="365760" y="1417320"/>
            <a:ext cx="1645920" cy="457200"/>
          </a:xfrm>
          <a:prstGeom prst="rect">
            <a:avLst/>
          </a:prstGeom>
          <a:solidFill>
            <a:srgbClr val="F8FAFC"/>
          </a:solidFill>
          <a:ln w="6350">
            <a:solidFill>
              <a:srgbClr val="E2E8F0"/>
            </a:solidFill>
            <a:prstDash val="solid"/>
          </a:ln>
        </p:spPr>
      </p:sp>
      <p:sp>
        <p:nvSpPr>
          <p:cNvPr id="12" name="Text 10"/>
          <p:cNvSpPr/>
          <p:nvPr/>
        </p:nvSpPr>
        <p:spPr>
          <a:xfrm>
            <a:off x="457200" y="14173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Hallucination</a:t>
            </a:r>
            <a:endParaRPr lang="en-US" sz="1000" dirty="0"/>
          </a:p>
        </p:txBody>
      </p:sp>
      <p:sp>
        <p:nvSpPr>
          <p:cNvPr id="13" name="Shape 11"/>
          <p:cNvSpPr/>
          <p:nvPr/>
        </p:nvSpPr>
        <p:spPr>
          <a:xfrm>
            <a:off x="2011680" y="1417320"/>
            <a:ext cx="3383280" cy="457200"/>
          </a:xfrm>
          <a:prstGeom prst="rect">
            <a:avLst/>
          </a:prstGeom>
          <a:solidFill>
            <a:srgbClr val="F8FAFC"/>
          </a:solidFill>
          <a:ln w="6350">
            <a:solidFill>
              <a:srgbClr val="E2E8F0"/>
            </a:solidFill>
            <a:prstDash val="solid"/>
          </a:ln>
        </p:spPr>
      </p:sp>
      <p:sp>
        <p:nvSpPr>
          <p:cNvPr id="14" name="Text 12"/>
          <p:cNvSpPr/>
          <p:nvPr/>
        </p:nvSpPr>
        <p:spPr>
          <a:xfrm>
            <a:off x="2103120" y="14173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Eval scoring + citation coverage + confidence block</a:t>
            </a:r>
            <a:endParaRPr lang="en-US" sz="1000" dirty="0"/>
          </a:p>
        </p:txBody>
      </p:sp>
      <p:sp>
        <p:nvSpPr>
          <p:cNvPr id="15" name="Shape 13"/>
          <p:cNvSpPr/>
          <p:nvPr/>
        </p:nvSpPr>
        <p:spPr>
          <a:xfrm>
            <a:off x="5394960" y="1417320"/>
            <a:ext cx="3383280" cy="457200"/>
          </a:xfrm>
          <a:prstGeom prst="rect">
            <a:avLst/>
          </a:prstGeom>
          <a:solidFill>
            <a:srgbClr val="F8FAFC"/>
          </a:solidFill>
          <a:ln w="6350">
            <a:solidFill>
              <a:srgbClr val="E2E8F0"/>
            </a:solidFill>
            <a:prstDash val="solid"/>
          </a:ln>
        </p:spPr>
      </p:sp>
      <p:sp>
        <p:nvSpPr>
          <p:cNvPr id="16" name="Text 14"/>
          <p:cNvSpPr/>
          <p:nvPr/>
        </p:nvSpPr>
        <p:spPr>
          <a:xfrm>
            <a:off x="5486400" y="14173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Entailment verification, re-retrieval cross-check</a:t>
            </a:r>
            <a:endParaRPr lang="en-US" sz="1000" dirty="0"/>
          </a:p>
        </p:txBody>
      </p:sp>
      <p:sp>
        <p:nvSpPr>
          <p:cNvPr id="17" name="Shape 15"/>
          <p:cNvSpPr/>
          <p:nvPr/>
        </p:nvSpPr>
        <p:spPr>
          <a:xfrm>
            <a:off x="365760" y="1874520"/>
            <a:ext cx="1645920" cy="457200"/>
          </a:xfrm>
          <a:prstGeom prst="rect">
            <a:avLst/>
          </a:prstGeom>
          <a:solidFill>
            <a:srgbClr val="FFFFFF"/>
          </a:solidFill>
          <a:ln w="6350">
            <a:solidFill>
              <a:srgbClr val="E2E8F0"/>
            </a:solidFill>
            <a:prstDash val="solid"/>
          </a:ln>
        </p:spPr>
      </p:sp>
      <p:sp>
        <p:nvSpPr>
          <p:cNvPr id="18" name="Text 16"/>
          <p:cNvSpPr/>
          <p:nvPr/>
        </p:nvSpPr>
        <p:spPr>
          <a:xfrm>
            <a:off x="457200" y="18745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Retrieval miss</a:t>
            </a:r>
            <a:endParaRPr lang="en-US" sz="1000" dirty="0"/>
          </a:p>
        </p:txBody>
      </p:sp>
      <p:sp>
        <p:nvSpPr>
          <p:cNvPr id="19" name="Shape 17"/>
          <p:cNvSpPr/>
          <p:nvPr/>
        </p:nvSpPr>
        <p:spPr>
          <a:xfrm>
            <a:off x="2011680" y="1874520"/>
            <a:ext cx="3383280" cy="457200"/>
          </a:xfrm>
          <a:prstGeom prst="rect">
            <a:avLst/>
          </a:prstGeom>
          <a:solidFill>
            <a:srgbClr val="FFFFFF"/>
          </a:solidFill>
          <a:ln w="6350">
            <a:solidFill>
              <a:srgbClr val="E2E8F0"/>
            </a:solidFill>
            <a:prstDash val="solid"/>
          </a:ln>
        </p:spPr>
      </p:sp>
      <p:sp>
        <p:nvSpPr>
          <p:cNvPr id="20" name="Text 18"/>
          <p:cNvSpPr/>
          <p:nvPr/>
        </p:nvSpPr>
        <p:spPr>
          <a:xfrm>
            <a:off x="2103120" y="18745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GapDetection + WebSearch fallback</a:t>
            </a:r>
            <a:endParaRPr lang="en-US" sz="1000" dirty="0"/>
          </a:p>
        </p:txBody>
      </p:sp>
      <p:sp>
        <p:nvSpPr>
          <p:cNvPr id="21" name="Shape 19"/>
          <p:cNvSpPr/>
          <p:nvPr/>
        </p:nvSpPr>
        <p:spPr>
          <a:xfrm>
            <a:off x="5394960" y="1874520"/>
            <a:ext cx="3383280" cy="457200"/>
          </a:xfrm>
          <a:prstGeom prst="rect">
            <a:avLst/>
          </a:prstGeom>
          <a:solidFill>
            <a:srgbClr val="FFFFFF"/>
          </a:solidFill>
          <a:ln w="6350">
            <a:solidFill>
              <a:srgbClr val="E2E8F0"/>
            </a:solidFill>
            <a:prstDash val="solid"/>
          </a:ln>
        </p:spPr>
      </p:sp>
      <p:sp>
        <p:nvSpPr>
          <p:cNvPr id="22" name="Text 20"/>
          <p:cNvSpPr/>
          <p:nvPr/>
        </p:nvSpPr>
        <p:spPr>
          <a:xfrm>
            <a:off x="5486400" y="18745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Hybrid BM25 + vector; query rewriting</a:t>
            </a:r>
            <a:endParaRPr lang="en-US" sz="1000" dirty="0"/>
          </a:p>
        </p:txBody>
      </p:sp>
      <p:sp>
        <p:nvSpPr>
          <p:cNvPr id="23" name="Shape 21"/>
          <p:cNvSpPr/>
          <p:nvPr/>
        </p:nvSpPr>
        <p:spPr>
          <a:xfrm>
            <a:off x="365760" y="2331720"/>
            <a:ext cx="1645920" cy="457200"/>
          </a:xfrm>
          <a:prstGeom prst="rect">
            <a:avLst/>
          </a:prstGeom>
          <a:solidFill>
            <a:srgbClr val="F8FAFC"/>
          </a:solidFill>
          <a:ln w="6350">
            <a:solidFill>
              <a:srgbClr val="E2E8F0"/>
            </a:solidFill>
            <a:prstDash val="solid"/>
          </a:ln>
        </p:spPr>
      </p:sp>
      <p:sp>
        <p:nvSpPr>
          <p:cNvPr id="24" name="Text 22"/>
          <p:cNvSpPr/>
          <p:nvPr/>
        </p:nvSpPr>
        <p:spPr>
          <a:xfrm>
            <a:off x="457200" y="23317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RBAC bypass</a:t>
            </a:r>
            <a:endParaRPr lang="en-US" sz="1000" dirty="0"/>
          </a:p>
        </p:txBody>
      </p:sp>
      <p:sp>
        <p:nvSpPr>
          <p:cNvPr id="25" name="Shape 23"/>
          <p:cNvSpPr/>
          <p:nvPr/>
        </p:nvSpPr>
        <p:spPr>
          <a:xfrm>
            <a:off x="2011680" y="2331720"/>
            <a:ext cx="3383280" cy="457200"/>
          </a:xfrm>
          <a:prstGeom prst="rect">
            <a:avLst/>
          </a:prstGeom>
          <a:solidFill>
            <a:srgbClr val="F8FAFC"/>
          </a:solidFill>
          <a:ln w="6350">
            <a:solidFill>
              <a:srgbClr val="E2E8F0"/>
            </a:solidFill>
            <a:prstDash val="solid"/>
          </a:ln>
        </p:spPr>
      </p:sp>
      <p:sp>
        <p:nvSpPr>
          <p:cNvPr id="26" name="Text 24"/>
          <p:cNvSpPr/>
          <p:nvPr/>
        </p:nvSpPr>
        <p:spPr>
          <a:xfrm>
            <a:off x="2103120" y="23317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Role filter in Retriever + output redaction</a:t>
            </a:r>
            <a:endParaRPr lang="en-US" sz="1000" dirty="0"/>
          </a:p>
        </p:txBody>
      </p:sp>
      <p:sp>
        <p:nvSpPr>
          <p:cNvPr id="27" name="Shape 25"/>
          <p:cNvSpPr/>
          <p:nvPr/>
        </p:nvSpPr>
        <p:spPr>
          <a:xfrm>
            <a:off x="5394960" y="2331720"/>
            <a:ext cx="3383280" cy="457200"/>
          </a:xfrm>
          <a:prstGeom prst="rect">
            <a:avLst/>
          </a:prstGeom>
          <a:solidFill>
            <a:srgbClr val="F8FAFC"/>
          </a:solidFill>
          <a:ln w="6350">
            <a:solidFill>
              <a:srgbClr val="E2E8F0"/>
            </a:solidFill>
            <a:prstDash val="solid"/>
          </a:ln>
        </p:spPr>
      </p:sp>
      <p:sp>
        <p:nvSpPr>
          <p:cNvPr id="28" name="Text 26"/>
          <p:cNvSpPr/>
          <p:nvPr/>
        </p:nvSpPr>
        <p:spPr>
          <a:xfrm>
            <a:off x="5486400" y="23317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Attribute-based access at the data layer</a:t>
            </a:r>
            <a:endParaRPr lang="en-US" sz="1000" dirty="0"/>
          </a:p>
        </p:txBody>
      </p:sp>
      <p:sp>
        <p:nvSpPr>
          <p:cNvPr id="29" name="Shape 27"/>
          <p:cNvSpPr/>
          <p:nvPr/>
        </p:nvSpPr>
        <p:spPr>
          <a:xfrm>
            <a:off x="365760" y="2788920"/>
            <a:ext cx="1645920" cy="457200"/>
          </a:xfrm>
          <a:prstGeom prst="rect">
            <a:avLst/>
          </a:prstGeom>
          <a:solidFill>
            <a:srgbClr val="FFFFFF"/>
          </a:solidFill>
          <a:ln w="6350">
            <a:solidFill>
              <a:srgbClr val="E2E8F0"/>
            </a:solidFill>
            <a:prstDash val="solid"/>
          </a:ln>
        </p:spPr>
      </p:sp>
      <p:sp>
        <p:nvSpPr>
          <p:cNvPr id="30" name="Text 28"/>
          <p:cNvSpPr/>
          <p:nvPr/>
        </p:nvSpPr>
        <p:spPr>
          <a:xfrm>
            <a:off x="457200" y="27889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Prompt injection</a:t>
            </a:r>
            <a:endParaRPr lang="en-US" sz="1000" dirty="0"/>
          </a:p>
        </p:txBody>
      </p:sp>
      <p:sp>
        <p:nvSpPr>
          <p:cNvPr id="31" name="Shape 29"/>
          <p:cNvSpPr/>
          <p:nvPr/>
        </p:nvSpPr>
        <p:spPr>
          <a:xfrm>
            <a:off x="2011680" y="2788920"/>
            <a:ext cx="3383280" cy="457200"/>
          </a:xfrm>
          <a:prstGeom prst="rect">
            <a:avLst/>
          </a:prstGeom>
          <a:solidFill>
            <a:srgbClr val="FFFFFF"/>
          </a:solidFill>
          <a:ln w="6350">
            <a:solidFill>
              <a:srgbClr val="E2E8F0"/>
            </a:solidFill>
            <a:prstDash val="solid"/>
          </a:ln>
        </p:spPr>
      </p:sp>
      <p:sp>
        <p:nvSpPr>
          <p:cNvPr id="32" name="Text 30"/>
          <p:cNvSpPr/>
          <p:nvPr/>
        </p:nvSpPr>
        <p:spPr>
          <a:xfrm>
            <a:off x="2103120" y="27889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Gateway pattern filter + system-prompt hardening</a:t>
            </a:r>
            <a:endParaRPr lang="en-US" sz="1000" dirty="0"/>
          </a:p>
        </p:txBody>
      </p:sp>
      <p:sp>
        <p:nvSpPr>
          <p:cNvPr id="33" name="Shape 31"/>
          <p:cNvSpPr/>
          <p:nvPr/>
        </p:nvSpPr>
        <p:spPr>
          <a:xfrm>
            <a:off x="5394960" y="2788920"/>
            <a:ext cx="3383280" cy="457200"/>
          </a:xfrm>
          <a:prstGeom prst="rect">
            <a:avLst/>
          </a:prstGeom>
          <a:solidFill>
            <a:srgbClr val="FFFFFF"/>
          </a:solidFill>
          <a:ln w="6350">
            <a:solidFill>
              <a:srgbClr val="E2E8F0"/>
            </a:solidFill>
            <a:prstDash val="solid"/>
          </a:ln>
        </p:spPr>
      </p:sp>
      <p:sp>
        <p:nvSpPr>
          <p:cNvPr id="34" name="Text 32"/>
          <p:cNvSpPr/>
          <p:nvPr/>
        </p:nvSpPr>
        <p:spPr>
          <a:xfrm>
            <a:off x="5486400" y="27889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Dedicated injection classifier (Lakera or local)</a:t>
            </a:r>
            <a:endParaRPr lang="en-US" sz="1000" dirty="0"/>
          </a:p>
        </p:txBody>
      </p:sp>
      <p:sp>
        <p:nvSpPr>
          <p:cNvPr id="35" name="Shape 33"/>
          <p:cNvSpPr/>
          <p:nvPr/>
        </p:nvSpPr>
        <p:spPr>
          <a:xfrm>
            <a:off x="365760" y="3246120"/>
            <a:ext cx="1645920" cy="457200"/>
          </a:xfrm>
          <a:prstGeom prst="rect">
            <a:avLst/>
          </a:prstGeom>
          <a:solidFill>
            <a:srgbClr val="F8FAFC"/>
          </a:solidFill>
          <a:ln w="6350">
            <a:solidFill>
              <a:srgbClr val="E2E8F0"/>
            </a:solidFill>
            <a:prstDash val="solid"/>
          </a:ln>
        </p:spPr>
      </p:sp>
      <p:sp>
        <p:nvSpPr>
          <p:cNvPr id="36" name="Text 34"/>
          <p:cNvSpPr/>
          <p:nvPr/>
        </p:nvSpPr>
        <p:spPr>
          <a:xfrm>
            <a:off x="457200" y="32461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External tool failure</a:t>
            </a:r>
            <a:endParaRPr lang="en-US" sz="1000" dirty="0"/>
          </a:p>
        </p:txBody>
      </p:sp>
      <p:sp>
        <p:nvSpPr>
          <p:cNvPr id="37" name="Shape 35"/>
          <p:cNvSpPr/>
          <p:nvPr/>
        </p:nvSpPr>
        <p:spPr>
          <a:xfrm>
            <a:off x="2011680" y="3246120"/>
            <a:ext cx="3383280" cy="457200"/>
          </a:xfrm>
          <a:prstGeom prst="rect">
            <a:avLst/>
          </a:prstGeom>
          <a:solidFill>
            <a:srgbClr val="F8FAFC"/>
          </a:solidFill>
          <a:ln w="6350">
            <a:solidFill>
              <a:srgbClr val="E2E8F0"/>
            </a:solidFill>
            <a:prstDash val="solid"/>
          </a:ln>
        </p:spPr>
      </p:sp>
      <p:sp>
        <p:nvSpPr>
          <p:cNvPr id="38" name="Text 36"/>
          <p:cNvSpPr/>
          <p:nvPr/>
        </p:nvSpPr>
        <p:spPr>
          <a:xfrm>
            <a:off x="2103120" y="32461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Timeout + fallback path + audit</a:t>
            </a:r>
            <a:endParaRPr lang="en-US" sz="1000" dirty="0"/>
          </a:p>
        </p:txBody>
      </p:sp>
      <p:sp>
        <p:nvSpPr>
          <p:cNvPr id="39" name="Shape 37"/>
          <p:cNvSpPr/>
          <p:nvPr/>
        </p:nvSpPr>
        <p:spPr>
          <a:xfrm>
            <a:off x="5394960" y="3246120"/>
            <a:ext cx="3383280" cy="457200"/>
          </a:xfrm>
          <a:prstGeom prst="rect">
            <a:avLst/>
          </a:prstGeom>
          <a:solidFill>
            <a:srgbClr val="F8FAFC"/>
          </a:solidFill>
          <a:ln w="6350">
            <a:solidFill>
              <a:srgbClr val="E2E8F0"/>
            </a:solidFill>
            <a:prstDash val="solid"/>
          </a:ln>
        </p:spPr>
      </p:sp>
      <p:sp>
        <p:nvSpPr>
          <p:cNvPr id="40" name="Text 38"/>
          <p:cNvSpPr/>
          <p:nvPr/>
        </p:nvSpPr>
        <p:spPr>
          <a:xfrm>
            <a:off x="5486400" y="32461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Local CVE cache + circuit breakers</a:t>
            </a:r>
            <a:endParaRPr lang="en-US" sz="1000" dirty="0"/>
          </a:p>
        </p:txBody>
      </p:sp>
      <p:sp>
        <p:nvSpPr>
          <p:cNvPr id="41" name="Shape 39"/>
          <p:cNvSpPr/>
          <p:nvPr/>
        </p:nvSpPr>
        <p:spPr>
          <a:xfrm>
            <a:off x="365760" y="3703320"/>
            <a:ext cx="1645920" cy="457200"/>
          </a:xfrm>
          <a:prstGeom prst="rect">
            <a:avLst/>
          </a:prstGeom>
          <a:solidFill>
            <a:srgbClr val="FFFFFF"/>
          </a:solidFill>
          <a:ln w="6350">
            <a:solidFill>
              <a:srgbClr val="E2E8F0"/>
            </a:solidFill>
            <a:prstDash val="solid"/>
          </a:ln>
        </p:spPr>
      </p:sp>
      <p:sp>
        <p:nvSpPr>
          <p:cNvPr id="42" name="Text 40"/>
          <p:cNvSpPr/>
          <p:nvPr/>
        </p:nvSpPr>
        <p:spPr>
          <a:xfrm>
            <a:off x="457200" y="37033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Cascade failure</a:t>
            </a:r>
            <a:endParaRPr lang="en-US" sz="1000" dirty="0"/>
          </a:p>
        </p:txBody>
      </p:sp>
      <p:sp>
        <p:nvSpPr>
          <p:cNvPr id="43" name="Shape 41"/>
          <p:cNvSpPr/>
          <p:nvPr/>
        </p:nvSpPr>
        <p:spPr>
          <a:xfrm>
            <a:off x="2011680" y="3703320"/>
            <a:ext cx="3383280" cy="457200"/>
          </a:xfrm>
          <a:prstGeom prst="rect">
            <a:avLst/>
          </a:prstGeom>
          <a:solidFill>
            <a:srgbClr val="FFFFFF"/>
          </a:solidFill>
          <a:ln w="6350">
            <a:solidFill>
              <a:srgbClr val="E2E8F0"/>
            </a:solidFill>
            <a:prstDash val="solid"/>
          </a:ln>
        </p:spPr>
      </p:sp>
      <p:sp>
        <p:nvSpPr>
          <p:cNvPr id="44" name="Text 42"/>
          <p:cNvSpPr/>
          <p:nvPr/>
        </p:nvSpPr>
        <p:spPr>
          <a:xfrm>
            <a:off x="2103120" y="37033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Pydantic contract validation + orchestrator fallback</a:t>
            </a:r>
            <a:endParaRPr lang="en-US" sz="1000" dirty="0"/>
          </a:p>
        </p:txBody>
      </p:sp>
      <p:sp>
        <p:nvSpPr>
          <p:cNvPr id="45" name="Shape 43"/>
          <p:cNvSpPr/>
          <p:nvPr/>
        </p:nvSpPr>
        <p:spPr>
          <a:xfrm>
            <a:off x="5394960" y="3703320"/>
            <a:ext cx="3383280" cy="457200"/>
          </a:xfrm>
          <a:prstGeom prst="rect">
            <a:avLst/>
          </a:prstGeom>
          <a:solidFill>
            <a:srgbClr val="FFFFFF"/>
          </a:solidFill>
          <a:ln w="6350">
            <a:solidFill>
              <a:srgbClr val="E2E8F0"/>
            </a:solidFill>
            <a:prstDash val="solid"/>
          </a:ln>
        </p:spPr>
      </p:sp>
      <p:sp>
        <p:nvSpPr>
          <p:cNvPr id="46" name="Text 44"/>
          <p:cNvSpPr/>
          <p:nvPr/>
        </p:nvSpPr>
        <p:spPr>
          <a:xfrm>
            <a:off x="5486400" y="37033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Per-agent assertion checks + hard halts</a:t>
            </a:r>
            <a:endParaRPr lang="en-US" sz="1000" dirty="0"/>
          </a:p>
        </p:txBody>
      </p:sp>
      <p:sp>
        <p:nvSpPr>
          <p:cNvPr id="47" name="Shape 45"/>
          <p:cNvSpPr/>
          <p:nvPr/>
        </p:nvSpPr>
        <p:spPr>
          <a:xfrm>
            <a:off x="365760" y="4160520"/>
            <a:ext cx="1645920" cy="457200"/>
          </a:xfrm>
          <a:prstGeom prst="rect">
            <a:avLst/>
          </a:prstGeom>
          <a:solidFill>
            <a:srgbClr val="F8FAFC"/>
          </a:solidFill>
          <a:ln w="6350">
            <a:solidFill>
              <a:srgbClr val="E2E8F0"/>
            </a:solidFill>
            <a:prstDash val="solid"/>
          </a:ln>
        </p:spPr>
      </p:sp>
      <p:sp>
        <p:nvSpPr>
          <p:cNvPr id="48" name="Text 46"/>
          <p:cNvSpPr/>
          <p:nvPr/>
        </p:nvSpPr>
        <p:spPr>
          <a:xfrm>
            <a:off x="457200" y="4160520"/>
            <a:ext cx="1463040" cy="4572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Cost explosion</a:t>
            </a:r>
            <a:endParaRPr lang="en-US" sz="1000" dirty="0"/>
          </a:p>
        </p:txBody>
      </p:sp>
      <p:sp>
        <p:nvSpPr>
          <p:cNvPr id="49" name="Shape 47"/>
          <p:cNvSpPr/>
          <p:nvPr/>
        </p:nvSpPr>
        <p:spPr>
          <a:xfrm>
            <a:off x="2011680" y="4160520"/>
            <a:ext cx="3383280" cy="457200"/>
          </a:xfrm>
          <a:prstGeom prst="rect">
            <a:avLst/>
          </a:prstGeom>
          <a:solidFill>
            <a:srgbClr val="F8FAFC"/>
          </a:solidFill>
          <a:ln w="6350">
            <a:solidFill>
              <a:srgbClr val="E2E8F0"/>
            </a:solidFill>
            <a:prstDash val="solid"/>
          </a:ln>
        </p:spPr>
      </p:sp>
      <p:sp>
        <p:nvSpPr>
          <p:cNvPr id="50" name="Text 48"/>
          <p:cNvSpPr/>
          <p:nvPr/>
        </p:nvSpPr>
        <p:spPr>
          <a:xfrm>
            <a:off x="2103120" y="41605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Per-agent token cap; no loops in orchestrator</a:t>
            </a:r>
            <a:endParaRPr lang="en-US" sz="1000" dirty="0"/>
          </a:p>
        </p:txBody>
      </p:sp>
      <p:sp>
        <p:nvSpPr>
          <p:cNvPr id="51" name="Shape 49"/>
          <p:cNvSpPr/>
          <p:nvPr/>
        </p:nvSpPr>
        <p:spPr>
          <a:xfrm>
            <a:off x="5394960" y="4160520"/>
            <a:ext cx="3383280" cy="457200"/>
          </a:xfrm>
          <a:prstGeom prst="rect">
            <a:avLst/>
          </a:prstGeom>
          <a:solidFill>
            <a:srgbClr val="F8FAFC"/>
          </a:solidFill>
          <a:ln w="6350">
            <a:solidFill>
              <a:srgbClr val="E2E8F0"/>
            </a:solidFill>
            <a:prstDash val="solid"/>
          </a:ln>
        </p:spPr>
      </p:sp>
      <p:sp>
        <p:nvSpPr>
          <p:cNvPr id="52" name="Text 50"/>
          <p:cNvSpPr/>
          <p:nvPr/>
        </p:nvSpPr>
        <p:spPr>
          <a:xfrm>
            <a:off x="5486400" y="4160520"/>
            <a:ext cx="3200400" cy="4572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Per-query + per-tenant budgets; LLM downgrade</a:t>
            </a:r>
            <a:endParaRPr lang="en-US" sz="1000" dirty="0"/>
          </a:p>
        </p:txBody>
      </p:sp>
      <p:sp>
        <p:nvSpPr>
          <p:cNvPr id="53" name="Text 51"/>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Observability &amp; Feedback Loops</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Six surfaces — every run is traced, scored, audited, and graded</a:t>
            </a:r>
            <a:endParaRPr lang="en-US" sz="1100" dirty="0"/>
          </a:p>
        </p:txBody>
      </p:sp>
      <p:sp>
        <p:nvSpPr>
          <p:cNvPr id="5" name="Shape 3"/>
          <p:cNvSpPr/>
          <p:nvPr/>
        </p:nvSpPr>
        <p:spPr>
          <a:xfrm>
            <a:off x="365760" y="960120"/>
            <a:ext cx="4114800" cy="1691640"/>
          </a:xfrm>
          <a:prstGeom prst="rect">
            <a:avLst/>
          </a:prstGeom>
          <a:solidFill>
            <a:srgbClr val="F8FAFC"/>
          </a:solidFill>
          <a:ln w="6350">
            <a:solidFill>
              <a:srgbClr val="E2E8F0"/>
            </a:solidFill>
            <a:prstDash val="solid"/>
          </a:ln>
        </p:spPr>
      </p:sp>
      <p:sp>
        <p:nvSpPr>
          <p:cNvPr id="6" name="Shape 4"/>
          <p:cNvSpPr/>
          <p:nvPr/>
        </p:nvSpPr>
        <p:spPr>
          <a:xfrm>
            <a:off x="365760" y="960120"/>
            <a:ext cx="73152" cy="1691640"/>
          </a:xfrm>
          <a:prstGeom prst="rect">
            <a:avLst/>
          </a:prstGeom>
          <a:solidFill>
            <a:srgbClr val="1E2761"/>
          </a:solidFill>
          <a:ln w="12700">
            <a:solidFill>
              <a:srgbClr val="1E2761"/>
            </a:solidFill>
            <a:prstDash val="solid"/>
          </a:ln>
        </p:spPr>
      </p:sp>
      <p:sp>
        <p:nvSpPr>
          <p:cNvPr id="7" name="Text 5"/>
          <p:cNvSpPr/>
          <p:nvPr/>
        </p:nvSpPr>
        <p:spPr>
          <a:xfrm>
            <a:off x="594360" y="1097280"/>
            <a:ext cx="37947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Distributed tracing</a:t>
            </a:r>
            <a:endParaRPr lang="en-US" sz="1300" dirty="0"/>
          </a:p>
        </p:txBody>
      </p:sp>
      <p:sp>
        <p:nvSpPr>
          <p:cNvPr id="8" name="Text 6"/>
          <p:cNvSpPr/>
          <p:nvPr/>
        </p:nvSpPr>
        <p:spPr>
          <a:xfrm>
            <a:off x="594360" y="1463040"/>
            <a:ext cx="379476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LangSmith span per agent: model, prompt, response, latency, cost, tokens. Correlated by trace ID from the gateway.</a:t>
            </a:r>
            <a:endParaRPr lang="en-US" sz="1100" dirty="0"/>
          </a:p>
        </p:txBody>
      </p:sp>
      <p:sp>
        <p:nvSpPr>
          <p:cNvPr id="9" name="Shape 7"/>
          <p:cNvSpPr/>
          <p:nvPr/>
        </p:nvSpPr>
        <p:spPr>
          <a:xfrm>
            <a:off x="4754880" y="960120"/>
            <a:ext cx="4114800" cy="1691640"/>
          </a:xfrm>
          <a:prstGeom prst="rect">
            <a:avLst/>
          </a:prstGeom>
          <a:solidFill>
            <a:srgbClr val="F8FAFC"/>
          </a:solidFill>
          <a:ln w="6350">
            <a:solidFill>
              <a:srgbClr val="E2E8F0"/>
            </a:solidFill>
            <a:prstDash val="solid"/>
          </a:ln>
        </p:spPr>
      </p:sp>
      <p:sp>
        <p:nvSpPr>
          <p:cNvPr id="10" name="Shape 8"/>
          <p:cNvSpPr/>
          <p:nvPr/>
        </p:nvSpPr>
        <p:spPr>
          <a:xfrm>
            <a:off x="4754880" y="960120"/>
            <a:ext cx="73152" cy="1691640"/>
          </a:xfrm>
          <a:prstGeom prst="rect">
            <a:avLst/>
          </a:prstGeom>
          <a:solidFill>
            <a:srgbClr val="1E2761"/>
          </a:solidFill>
          <a:ln w="12700">
            <a:solidFill>
              <a:srgbClr val="1E2761"/>
            </a:solidFill>
            <a:prstDash val="solid"/>
          </a:ln>
        </p:spPr>
      </p:sp>
      <p:sp>
        <p:nvSpPr>
          <p:cNvPr id="11" name="Text 9"/>
          <p:cNvSpPr/>
          <p:nvPr/>
        </p:nvSpPr>
        <p:spPr>
          <a:xfrm>
            <a:off x="4983480" y="1097280"/>
            <a:ext cx="37947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LLM-as-judge evaluation</a:t>
            </a:r>
            <a:endParaRPr lang="en-US" sz="1300" dirty="0"/>
          </a:p>
        </p:txBody>
      </p:sp>
      <p:sp>
        <p:nvSpPr>
          <p:cNvPr id="12" name="Text 10"/>
          <p:cNvSpPr/>
          <p:nvPr/>
        </p:nvSpPr>
        <p:spPr>
          <a:xfrm>
            <a:off x="4983480" y="1463040"/>
            <a:ext cx="379476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Five dimensions per response: relevance, grounding, completeness, security accuracy, hallucination risk. Inline + offline.</a:t>
            </a:r>
            <a:endParaRPr lang="en-US" sz="1100" dirty="0"/>
          </a:p>
        </p:txBody>
      </p:sp>
      <p:sp>
        <p:nvSpPr>
          <p:cNvPr id="13" name="Shape 11"/>
          <p:cNvSpPr/>
          <p:nvPr/>
        </p:nvSpPr>
        <p:spPr>
          <a:xfrm>
            <a:off x="365760" y="2926080"/>
            <a:ext cx="4114800" cy="1691640"/>
          </a:xfrm>
          <a:prstGeom prst="rect">
            <a:avLst/>
          </a:prstGeom>
          <a:solidFill>
            <a:srgbClr val="F8FAFC"/>
          </a:solidFill>
          <a:ln w="6350">
            <a:solidFill>
              <a:srgbClr val="E2E8F0"/>
            </a:solidFill>
            <a:prstDash val="solid"/>
          </a:ln>
        </p:spPr>
      </p:sp>
      <p:sp>
        <p:nvSpPr>
          <p:cNvPr id="14" name="Shape 12"/>
          <p:cNvSpPr/>
          <p:nvPr/>
        </p:nvSpPr>
        <p:spPr>
          <a:xfrm>
            <a:off x="365760" y="2926080"/>
            <a:ext cx="73152" cy="1691640"/>
          </a:xfrm>
          <a:prstGeom prst="rect">
            <a:avLst/>
          </a:prstGeom>
          <a:solidFill>
            <a:srgbClr val="1E2761"/>
          </a:solidFill>
          <a:ln w="12700">
            <a:solidFill>
              <a:srgbClr val="1E2761"/>
            </a:solidFill>
            <a:prstDash val="solid"/>
          </a:ln>
        </p:spPr>
      </p:sp>
      <p:sp>
        <p:nvSpPr>
          <p:cNvPr id="15" name="Text 13"/>
          <p:cNvSpPr/>
          <p:nvPr/>
        </p:nvSpPr>
        <p:spPr>
          <a:xfrm>
            <a:off x="594360" y="3063240"/>
            <a:ext cx="37947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Confidence aggregation</a:t>
            </a:r>
            <a:endParaRPr lang="en-US" sz="1300" dirty="0"/>
          </a:p>
        </p:txBody>
      </p:sp>
      <p:sp>
        <p:nvSpPr>
          <p:cNvPr id="16" name="Text 14"/>
          <p:cNvSpPr/>
          <p:nvPr/>
        </p:nvSpPr>
        <p:spPr>
          <a:xfrm>
            <a:off x="594360" y="3429000"/>
            <a:ext cx="379476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Weighted aggregate of per-agent scores. Three states: PASS ≥0.70 · ESCALATION 0.60-0.70 · BLOCK &lt;0.60.</a:t>
            </a:r>
            <a:endParaRPr lang="en-US" sz="1100" dirty="0"/>
          </a:p>
        </p:txBody>
      </p:sp>
      <p:sp>
        <p:nvSpPr>
          <p:cNvPr id="17" name="Shape 15"/>
          <p:cNvSpPr/>
          <p:nvPr/>
        </p:nvSpPr>
        <p:spPr>
          <a:xfrm>
            <a:off x="4754880" y="2926080"/>
            <a:ext cx="4114800" cy="1691640"/>
          </a:xfrm>
          <a:prstGeom prst="rect">
            <a:avLst/>
          </a:prstGeom>
          <a:solidFill>
            <a:srgbClr val="F8FAFC"/>
          </a:solidFill>
          <a:ln w="6350">
            <a:solidFill>
              <a:srgbClr val="E2E8F0"/>
            </a:solidFill>
            <a:prstDash val="solid"/>
          </a:ln>
        </p:spPr>
      </p:sp>
      <p:sp>
        <p:nvSpPr>
          <p:cNvPr id="18" name="Shape 16"/>
          <p:cNvSpPr/>
          <p:nvPr/>
        </p:nvSpPr>
        <p:spPr>
          <a:xfrm>
            <a:off x="4754880" y="2926080"/>
            <a:ext cx="73152" cy="1691640"/>
          </a:xfrm>
          <a:prstGeom prst="rect">
            <a:avLst/>
          </a:prstGeom>
          <a:solidFill>
            <a:srgbClr val="1E2761"/>
          </a:solidFill>
          <a:ln w="12700">
            <a:solidFill>
              <a:srgbClr val="1E2761"/>
            </a:solidFill>
            <a:prstDash val="solid"/>
          </a:ln>
        </p:spPr>
      </p:sp>
      <p:sp>
        <p:nvSpPr>
          <p:cNvPr id="19" name="Text 17"/>
          <p:cNvSpPr/>
          <p:nvPr/>
        </p:nvSpPr>
        <p:spPr>
          <a:xfrm>
            <a:off x="4983480" y="3063240"/>
            <a:ext cx="37947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Three feedback loops</a:t>
            </a:r>
            <a:endParaRPr lang="en-US" sz="1300" dirty="0"/>
          </a:p>
        </p:txBody>
      </p:sp>
      <p:sp>
        <p:nvSpPr>
          <p:cNvPr id="20" name="Text 18"/>
          <p:cNvSpPr/>
          <p:nvPr/>
        </p:nvSpPr>
        <p:spPr>
          <a:xfrm>
            <a:off x="4983480" y="3429000"/>
            <a:ext cx="3794760" cy="1051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(1) Eval FAIL → human queue → golden dataset growth. (2) Drift detection → prompt re-evaluation. (3) Gap detection → corpus acquisition.</a:t>
            </a:r>
            <a:endParaRPr lang="en-US" sz="1100" dirty="0"/>
          </a:p>
        </p:txBody>
      </p:sp>
      <p:sp>
        <p:nvSpPr>
          <p:cNvPr id="21" name="Text 19"/>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Live Pipeline Metrics</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Measured end-to-end on the V2X reference query — May 10, 2026</a:t>
            </a:r>
            <a:endParaRPr lang="en-US" sz="1100" dirty="0"/>
          </a:p>
        </p:txBody>
      </p:sp>
      <p:sp>
        <p:nvSpPr>
          <p:cNvPr id="5" name="Shape 3"/>
          <p:cNvSpPr/>
          <p:nvPr/>
        </p:nvSpPr>
        <p:spPr>
          <a:xfrm>
            <a:off x="365760" y="1005840"/>
            <a:ext cx="2697480" cy="1371600"/>
          </a:xfrm>
          <a:prstGeom prst="rect">
            <a:avLst/>
          </a:prstGeom>
          <a:solidFill>
            <a:srgbClr val="FFFFFF"/>
          </a:solidFill>
          <a:ln w="12700">
            <a:solidFill>
              <a:srgbClr val="E2E8F0"/>
            </a:solidFill>
            <a:prstDash val="solid"/>
          </a:ln>
        </p:spPr>
      </p:sp>
      <p:sp>
        <p:nvSpPr>
          <p:cNvPr id="6" name="Text 4"/>
          <p:cNvSpPr/>
          <p:nvPr/>
        </p:nvSpPr>
        <p:spPr>
          <a:xfrm>
            <a:off x="502920" y="1188720"/>
            <a:ext cx="2423160" cy="640080"/>
          </a:xfrm>
          <a:prstGeom prst="rect">
            <a:avLst/>
          </a:prstGeom>
          <a:noFill/>
          <a:ln/>
        </p:spPr>
        <p:txBody>
          <a:bodyPr wrap="square" lIns="0" tIns="0" rIns="0" bIns="0" rtlCol="0" anchor="ctr"/>
          <a:lstStyle/>
          <a:p>
            <a:pPr algn="l" indent="0" marL="0">
              <a:buNone/>
            </a:pPr>
            <a:r>
              <a:rPr lang="en-US" sz="3600" b="1" dirty="0">
                <a:solidFill>
                  <a:srgbClr val="1E2761"/>
                </a:solidFill>
                <a:latin typeface="Calibri" pitchFamily="34" charset="0"/>
                <a:ea typeface="Calibri" pitchFamily="34" charset="-122"/>
                <a:cs typeface="Calibri" pitchFamily="34" charset="-120"/>
              </a:rPr>
              <a:t>14 / 14</a:t>
            </a:r>
            <a:endParaRPr lang="en-US" sz="3600" dirty="0"/>
          </a:p>
        </p:txBody>
      </p:sp>
      <p:sp>
        <p:nvSpPr>
          <p:cNvPr id="7" name="Text 5"/>
          <p:cNvSpPr/>
          <p:nvPr/>
        </p:nvSpPr>
        <p:spPr>
          <a:xfrm>
            <a:off x="502920" y="192024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Agents invoked</a:t>
            </a:r>
            <a:endParaRPr lang="en-US" sz="1200" dirty="0"/>
          </a:p>
        </p:txBody>
      </p:sp>
      <p:sp>
        <p:nvSpPr>
          <p:cNvPr id="8" name="Shape 6"/>
          <p:cNvSpPr/>
          <p:nvPr/>
        </p:nvSpPr>
        <p:spPr>
          <a:xfrm>
            <a:off x="3291840" y="1005840"/>
            <a:ext cx="2697480" cy="1371600"/>
          </a:xfrm>
          <a:prstGeom prst="rect">
            <a:avLst/>
          </a:prstGeom>
          <a:solidFill>
            <a:srgbClr val="FFFFFF"/>
          </a:solidFill>
          <a:ln w="12700">
            <a:solidFill>
              <a:srgbClr val="E2E8F0"/>
            </a:solidFill>
            <a:prstDash val="solid"/>
          </a:ln>
        </p:spPr>
      </p:sp>
      <p:sp>
        <p:nvSpPr>
          <p:cNvPr id="9" name="Text 7"/>
          <p:cNvSpPr/>
          <p:nvPr/>
        </p:nvSpPr>
        <p:spPr>
          <a:xfrm>
            <a:off x="3429000" y="1188720"/>
            <a:ext cx="2423160" cy="640080"/>
          </a:xfrm>
          <a:prstGeom prst="rect">
            <a:avLst/>
          </a:prstGeom>
          <a:noFill/>
          <a:ln/>
        </p:spPr>
        <p:txBody>
          <a:bodyPr wrap="square" lIns="0" tIns="0" rIns="0" bIns="0" rtlCol="0" anchor="ctr"/>
          <a:lstStyle/>
          <a:p>
            <a:pPr algn="l" indent="0" marL="0">
              <a:buNone/>
            </a:pPr>
            <a:r>
              <a:rPr lang="en-US" sz="3600" b="1" dirty="0">
                <a:solidFill>
                  <a:srgbClr val="15803D"/>
                </a:solidFill>
                <a:latin typeface="Calibri" pitchFamily="34" charset="0"/>
                <a:ea typeface="Calibri" pitchFamily="34" charset="-122"/>
                <a:cs typeface="Calibri" pitchFamily="34" charset="-120"/>
              </a:rPr>
              <a:t>0.66</a:t>
            </a:r>
            <a:endParaRPr lang="en-US" sz="3600" dirty="0"/>
          </a:p>
        </p:txBody>
      </p:sp>
      <p:sp>
        <p:nvSpPr>
          <p:cNvPr id="10" name="Text 8"/>
          <p:cNvSpPr/>
          <p:nvPr/>
        </p:nvSpPr>
        <p:spPr>
          <a:xfrm>
            <a:off x="3429000" y="192024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Eval score (PASS)</a:t>
            </a:r>
            <a:endParaRPr lang="en-US" sz="1200" dirty="0"/>
          </a:p>
        </p:txBody>
      </p:sp>
      <p:sp>
        <p:nvSpPr>
          <p:cNvPr id="11" name="Shape 9"/>
          <p:cNvSpPr/>
          <p:nvPr/>
        </p:nvSpPr>
        <p:spPr>
          <a:xfrm>
            <a:off x="6217920" y="1005840"/>
            <a:ext cx="2697480" cy="1371600"/>
          </a:xfrm>
          <a:prstGeom prst="rect">
            <a:avLst/>
          </a:prstGeom>
          <a:solidFill>
            <a:srgbClr val="FFFFFF"/>
          </a:solidFill>
          <a:ln w="12700">
            <a:solidFill>
              <a:srgbClr val="E2E8F0"/>
            </a:solidFill>
            <a:prstDash val="solid"/>
          </a:ln>
        </p:spPr>
      </p:sp>
      <p:sp>
        <p:nvSpPr>
          <p:cNvPr id="12" name="Text 10"/>
          <p:cNvSpPr/>
          <p:nvPr/>
        </p:nvSpPr>
        <p:spPr>
          <a:xfrm>
            <a:off x="6355080" y="1188720"/>
            <a:ext cx="2423160" cy="640080"/>
          </a:xfrm>
          <a:prstGeom prst="rect">
            <a:avLst/>
          </a:prstGeom>
          <a:noFill/>
          <a:ln/>
        </p:spPr>
        <p:txBody>
          <a:bodyPr wrap="square" lIns="0" tIns="0" rIns="0" bIns="0" rtlCol="0" anchor="ctr"/>
          <a:lstStyle/>
          <a:p>
            <a:pPr algn="l" indent="0" marL="0">
              <a:buNone/>
            </a:pPr>
            <a:r>
              <a:rPr lang="en-US" sz="3600" b="1" dirty="0">
                <a:solidFill>
                  <a:srgbClr val="1E2761"/>
                </a:solidFill>
                <a:latin typeface="Calibri" pitchFamily="34" charset="0"/>
                <a:ea typeface="Calibri" pitchFamily="34" charset="-122"/>
                <a:cs typeface="Calibri" pitchFamily="34" charset="-120"/>
              </a:rPr>
              <a:t>0.20</a:t>
            </a:r>
            <a:endParaRPr lang="en-US" sz="3600" dirty="0"/>
          </a:p>
        </p:txBody>
      </p:sp>
      <p:sp>
        <p:nvSpPr>
          <p:cNvPr id="13" name="Text 11"/>
          <p:cNvSpPr/>
          <p:nvPr/>
        </p:nvSpPr>
        <p:spPr>
          <a:xfrm>
            <a:off x="6355080" y="192024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Hallucination risk</a:t>
            </a:r>
            <a:endParaRPr lang="en-US" sz="1200" dirty="0"/>
          </a:p>
        </p:txBody>
      </p:sp>
      <p:sp>
        <p:nvSpPr>
          <p:cNvPr id="14" name="Shape 12"/>
          <p:cNvSpPr/>
          <p:nvPr/>
        </p:nvSpPr>
        <p:spPr>
          <a:xfrm>
            <a:off x="365760" y="2606040"/>
            <a:ext cx="2697480" cy="1371600"/>
          </a:xfrm>
          <a:prstGeom prst="rect">
            <a:avLst/>
          </a:prstGeom>
          <a:solidFill>
            <a:srgbClr val="FFFFFF"/>
          </a:solidFill>
          <a:ln w="12700">
            <a:solidFill>
              <a:srgbClr val="E2E8F0"/>
            </a:solidFill>
            <a:prstDash val="solid"/>
          </a:ln>
        </p:spPr>
      </p:sp>
      <p:sp>
        <p:nvSpPr>
          <p:cNvPr id="15" name="Text 13"/>
          <p:cNvSpPr/>
          <p:nvPr/>
        </p:nvSpPr>
        <p:spPr>
          <a:xfrm>
            <a:off x="502920" y="2788920"/>
            <a:ext cx="2423160" cy="640080"/>
          </a:xfrm>
          <a:prstGeom prst="rect">
            <a:avLst/>
          </a:prstGeom>
          <a:noFill/>
          <a:ln/>
        </p:spPr>
        <p:txBody>
          <a:bodyPr wrap="square" lIns="0" tIns="0" rIns="0" bIns="0" rtlCol="0" anchor="ctr"/>
          <a:lstStyle/>
          <a:p>
            <a:pPr algn="l" indent="0" marL="0">
              <a:buNone/>
            </a:pPr>
            <a:r>
              <a:rPr lang="en-US" sz="3600" b="1" dirty="0">
                <a:solidFill>
                  <a:srgbClr val="1E2761"/>
                </a:solidFill>
                <a:latin typeface="Calibri" pitchFamily="34" charset="0"/>
                <a:ea typeface="Calibri" pitchFamily="34" charset="-122"/>
                <a:cs typeface="Calibri" pitchFamily="34" charset="-120"/>
              </a:rPr>
              <a:t>85%</a:t>
            </a:r>
            <a:endParaRPr lang="en-US" sz="3600" dirty="0"/>
          </a:p>
        </p:txBody>
      </p:sp>
      <p:sp>
        <p:nvSpPr>
          <p:cNvPr id="16" name="Text 14"/>
          <p:cNvSpPr/>
          <p:nvPr/>
        </p:nvSpPr>
        <p:spPr>
          <a:xfrm>
            <a:off x="502920" y="352044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Citation coverage</a:t>
            </a:r>
            <a:endParaRPr lang="en-US" sz="1200" dirty="0"/>
          </a:p>
        </p:txBody>
      </p:sp>
      <p:sp>
        <p:nvSpPr>
          <p:cNvPr id="17" name="Shape 15"/>
          <p:cNvSpPr/>
          <p:nvPr/>
        </p:nvSpPr>
        <p:spPr>
          <a:xfrm>
            <a:off x="3291840" y="2606040"/>
            <a:ext cx="2697480" cy="1371600"/>
          </a:xfrm>
          <a:prstGeom prst="rect">
            <a:avLst/>
          </a:prstGeom>
          <a:solidFill>
            <a:srgbClr val="FFFFFF"/>
          </a:solidFill>
          <a:ln w="12700">
            <a:solidFill>
              <a:srgbClr val="E2E8F0"/>
            </a:solidFill>
            <a:prstDash val="solid"/>
          </a:ln>
        </p:spPr>
      </p:sp>
      <p:sp>
        <p:nvSpPr>
          <p:cNvPr id="18" name="Text 16"/>
          <p:cNvSpPr/>
          <p:nvPr/>
        </p:nvSpPr>
        <p:spPr>
          <a:xfrm>
            <a:off x="3429000" y="2788920"/>
            <a:ext cx="2423160" cy="640080"/>
          </a:xfrm>
          <a:prstGeom prst="rect">
            <a:avLst/>
          </a:prstGeom>
          <a:noFill/>
          <a:ln/>
        </p:spPr>
        <p:txBody>
          <a:bodyPr wrap="square" lIns="0" tIns="0" rIns="0" bIns="0" rtlCol="0" anchor="ctr"/>
          <a:lstStyle/>
          <a:p>
            <a:pPr algn="l" indent="0" marL="0">
              <a:buNone/>
            </a:pPr>
            <a:r>
              <a:rPr lang="en-US" sz="3600" b="1" dirty="0">
                <a:solidFill>
                  <a:srgbClr val="1E2761"/>
                </a:solidFill>
                <a:latin typeface="Calibri" pitchFamily="34" charset="0"/>
                <a:ea typeface="Calibri" pitchFamily="34" charset="-122"/>
                <a:cs typeface="Calibri" pitchFamily="34" charset="-120"/>
              </a:rPr>
              <a:t>~50s</a:t>
            </a:r>
            <a:endParaRPr lang="en-US" sz="3600" dirty="0"/>
          </a:p>
        </p:txBody>
      </p:sp>
      <p:sp>
        <p:nvSpPr>
          <p:cNvPr id="19" name="Text 17"/>
          <p:cNvSpPr/>
          <p:nvPr/>
        </p:nvSpPr>
        <p:spPr>
          <a:xfrm>
            <a:off x="3429000" y="352044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End-to-end latency</a:t>
            </a:r>
            <a:endParaRPr lang="en-US" sz="1200" dirty="0"/>
          </a:p>
        </p:txBody>
      </p:sp>
      <p:sp>
        <p:nvSpPr>
          <p:cNvPr id="20" name="Shape 18"/>
          <p:cNvSpPr/>
          <p:nvPr/>
        </p:nvSpPr>
        <p:spPr>
          <a:xfrm>
            <a:off x="6217920" y="2606040"/>
            <a:ext cx="2697480" cy="1371600"/>
          </a:xfrm>
          <a:prstGeom prst="rect">
            <a:avLst/>
          </a:prstGeom>
          <a:solidFill>
            <a:srgbClr val="FFFFFF"/>
          </a:solidFill>
          <a:ln w="12700">
            <a:solidFill>
              <a:srgbClr val="E2E8F0"/>
            </a:solidFill>
            <a:prstDash val="solid"/>
          </a:ln>
        </p:spPr>
      </p:sp>
      <p:sp>
        <p:nvSpPr>
          <p:cNvPr id="21" name="Text 19"/>
          <p:cNvSpPr/>
          <p:nvPr/>
        </p:nvSpPr>
        <p:spPr>
          <a:xfrm>
            <a:off x="6355080" y="2788920"/>
            <a:ext cx="2423160" cy="640080"/>
          </a:xfrm>
          <a:prstGeom prst="rect">
            <a:avLst/>
          </a:prstGeom>
          <a:noFill/>
          <a:ln/>
        </p:spPr>
        <p:txBody>
          <a:bodyPr wrap="square" lIns="0" tIns="0" rIns="0" bIns="0" rtlCol="0" anchor="ctr"/>
          <a:lstStyle/>
          <a:p>
            <a:pPr algn="l" indent="0" marL="0">
              <a:buNone/>
            </a:pPr>
            <a:r>
              <a:rPr lang="en-US" sz="3600" b="1" dirty="0">
                <a:solidFill>
                  <a:srgbClr val="1E2761"/>
                </a:solidFill>
                <a:latin typeface="Calibri" pitchFamily="34" charset="0"/>
                <a:ea typeface="Calibri" pitchFamily="34" charset="-122"/>
                <a:cs typeface="Calibri" pitchFamily="34" charset="-120"/>
              </a:rPr>
              <a:t>$0.018</a:t>
            </a:r>
            <a:endParaRPr lang="en-US" sz="3600" dirty="0"/>
          </a:p>
        </p:txBody>
      </p:sp>
      <p:sp>
        <p:nvSpPr>
          <p:cNvPr id="22" name="Text 20"/>
          <p:cNvSpPr/>
          <p:nvPr/>
        </p:nvSpPr>
        <p:spPr>
          <a:xfrm>
            <a:off x="6355080" y="3520440"/>
            <a:ext cx="2423160" cy="3657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Cost per query</a:t>
            </a:r>
            <a:endParaRPr lang="en-US" sz="1200" dirty="0"/>
          </a:p>
        </p:txBody>
      </p:sp>
      <p:sp>
        <p:nvSpPr>
          <p:cNvPr id="23" name="Text 21"/>
          <p:cNvSpPr/>
          <p:nvPr/>
        </p:nvSpPr>
        <p:spPr>
          <a:xfrm>
            <a:off x="365760" y="4434840"/>
            <a:ext cx="8412480" cy="365760"/>
          </a:xfrm>
          <a:prstGeom prst="rect">
            <a:avLst/>
          </a:prstGeom>
          <a:noFill/>
          <a:ln/>
        </p:spPr>
        <p:txBody>
          <a:bodyPr wrap="square" lIns="0" tIns="0" rIns="0" bIns="0"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Reference query: "What CVEs affect our V2X infrastructure and what is the MITRE ATT&amp;CK mapping?"  ·  Role: ANALYST  ·  Status: PASS, escalated for human review per design</a:t>
            </a:r>
            <a:endParaRPr lang="en-US" sz="1000" dirty="0"/>
          </a:p>
        </p:txBody>
      </p:sp>
      <p:sp>
        <p:nvSpPr>
          <p:cNvPr id="24" name="Text 22"/>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Deterministic Provenance</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How a failing eval became a design improvement</a:t>
            </a:r>
            <a:endParaRPr lang="en-US" sz="1100" dirty="0"/>
          </a:p>
        </p:txBody>
      </p:sp>
      <p:sp>
        <p:nvSpPr>
          <p:cNvPr id="5" name="Text 3"/>
          <p:cNvSpPr/>
          <p:nvPr/>
        </p:nvSpPr>
        <p:spPr>
          <a:xfrm>
            <a:off x="365760" y="960120"/>
            <a:ext cx="4206240" cy="320040"/>
          </a:xfrm>
          <a:prstGeom prst="rect">
            <a:avLst/>
          </a:prstGeom>
          <a:noFill/>
          <a:ln/>
        </p:spPr>
        <p:txBody>
          <a:bodyPr wrap="square" lIns="0" tIns="0" rIns="0" bIns="0" rtlCol="0" anchor="ctr"/>
          <a:lstStyle/>
          <a:p>
            <a:pPr indent="0" marL="0">
              <a:buNone/>
            </a:pPr>
            <a:r>
              <a:rPr lang="en-US" sz="1400" b="1" dirty="0">
                <a:solidFill>
                  <a:srgbClr val="F96167"/>
                </a:solidFill>
                <a:latin typeface="Calibri" pitchFamily="34" charset="0"/>
                <a:ea typeface="Calibri" pitchFamily="34" charset="-122"/>
                <a:cs typeface="Calibri" pitchFamily="34" charset="-120"/>
              </a:rPr>
              <a:t>The problem</a:t>
            </a:r>
            <a:endParaRPr lang="en-US" sz="1400" dirty="0"/>
          </a:p>
        </p:txBody>
      </p:sp>
      <p:sp>
        <p:nvSpPr>
          <p:cNvPr id="6" name="Text 4"/>
          <p:cNvSpPr/>
          <p:nvPr/>
        </p:nvSpPr>
        <p:spPr>
          <a:xfrm>
            <a:off x="365760" y="1280160"/>
            <a:ext cx="4206240" cy="21945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Synthesizer initially presented unverified CVE IDs as facts. Eval flagged hallucination. First attempt: tell the synthesizer to label provenance. Result: synthesizer fabricated 'VERIFIED — NVD' labels to pass the eval. Goodhart's Law in action — the measure became a target.</a:t>
            </a:r>
            <a:endParaRPr lang="en-US" sz="1100" dirty="0"/>
          </a:p>
        </p:txBody>
      </p:sp>
      <p:sp>
        <p:nvSpPr>
          <p:cNvPr id="7" name="Text 5"/>
          <p:cNvSpPr/>
          <p:nvPr/>
        </p:nvSpPr>
        <p:spPr>
          <a:xfrm>
            <a:off x="4754880" y="960120"/>
            <a:ext cx="4023360" cy="320040"/>
          </a:xfrm>
          <a:prstGeom prst="rect">
            <a:avLst/>
          </a:prstGeom>
          <a:noFill/>
          <a:ln/>
        </p:spPr>
        <p:txBody>
          <a:bodyPr wrap="square" lIns="0" tIns="0" rIns="0" bIns="0" rtlCol="0" anchor="ctr"/>
          <a:lstStyle/>
          <a:p>
            <a:pPr indent="0" marL="0">
              <a:buNone/>
            </a:pPr>
            <a:r>
              <a:rPr lang="en-US" sz="1400" b="1" dirty="0">
                <a:solidFill>
                  <a:srgbClr val="15803D"/>
                </a:solidFill>
                <a:latin typeface="Calibri" pitchFamily="34" charset="0"/>
                <a:ea typeface="Calibri" pitchFamily="34" charset="-122"/>
                <a:cs typeface="Calibri" pitchFamily="34" charset="-120"/>
              </a:rPr>
              <a:t>The fix (structural)</a:t>
            </a:r>
            <a:endParaRPr lang="en-US" sz="1400" dirty="0"/>
          </a:p>
        </p:txBody>
      </p:sp>
      <p:sp>
        <p:nvSpPr>
          <p:cNvPr id="8" name="Text 6"/>
          <p:cNvSpPr/>
          <p:nvPr/>
        </p:nvSpPr>
        <p:spPr>
          <a:xfrm>
            <a:off x="4754880" y="1280160"/>
            <a:ext cx="4023360" cy="2194560"/>
          </a:xfrm>
          <a:prstGeom prst="rect">
            <a:avLst/>
          </a:prstGeom>
          <a:noFill/>
          <a:ln/>
        </p:spPr>
        <p:txBody>
          <a:bodyPr wrap="square" lIns="0" tIns="0" rIns="0" bIns="0" rtlCol="0" anchor="ctr"/>
          <a:lstStyle/>
          <a:p>
            <a:pPr marL="342900" indent="-342900">
              <a:spcAft>
                <a:spcPts val="400"/>
              </a:spcAft>
              <a:buSzPct val="100000"/>
              <a:buChar char="•"/>
            </a:pPr>
            <a:r>
              <a:rPr lang="en-US" sz="1100" b="1" dirty="0">
                <a:solidFill>
                  <a:srgbClr val="475569"/>
                </a:solidFill>
                <a:latin typeface="Calibri" pitchFamily="34" charset="0"/>
                <a:ea typeface="Calibri" pitchFamily="34" charset="-122"/>
                <a:cs typeface="Calibri" pitchFamily="34" charset="-120"/>
              </a:rPr>
              <a:t>Move provenance authority from LLM → orchestrator</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Orchestrator reads ThreatIntelAgent.nvd_data (real NVD API)</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Builds the 'Data provenance:' footer deterministically</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Synthesizer instructed to append verbatim, never author</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Post-synthesis sanity check repairs any drift</a:t>
            </a:r>
            <a:endParaRPr lang="en-US" sz="1100" dirty="0"/>
          </a:p>
        </p:txBody>
      </p:sp>
      <p:sp>
        <p:nvSpPr>
          <p:cNvPr id="9" name="Shape 7"/>
          <p:cNvSpPr/>
          <p:nvPr/>
        </p:nvSpPr>
        <p:spPr>
          <a:xfrm>
            <a:off x="365760" y="3703320"/>
            <a:ext cx="8412480" cy="914400"/>
          </a:xfrm>
          <a:prstGeom prst="rect">
            <a:avLst/>
          </a:prstGeom>
          <a:solidFill>
            <a:srgbClr val="1E2761"/>
          </a:solidFill>
          <a:ln w="12700">
            <a:solidFill>
              <a:srgbClr val="1E2761"/>
            </a:solidFill>
            <a:prstDash val="solid"/>
          </a:ln>
        </p:spPr>
      </p:sp>
      <p:sp>
        <p:nvSpPr>
          <p:cNvPr id="10" name="Text 8"/>
          <p:cNvSpPr/>
          <p:nvPr/>
        </p:nvSpPr>
        <p:spPr>
          <a:xfrm>
            <a:off x="548640" y="3794760"/>
            <a:ext cx="8046720" cy="73152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Hallucination risk dropped from 0.40 → 0.10. Eval PASS achieved without compromising honesty. The system now tells the truth even when the truth is 'these CVEs are illustrative.'</a:t>
            </a:r>
            <a:endParaRPr lang="en-US" sz="1200" dirty="0"/>
          </a:p>
        </p:txBody>
      </p:sp>
      <p:sp>
        <p:nvSpPr>
          <p:cNvPr id="11" name="Text 9"/>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n8n Workflow 1 — Research Pipeline</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16 nodes · cybersecurity-hardened · external tool calling · human-in-the-loop</a:t>
            </a:r>
            <a:endParaRPr lang="en-US" sz="1100" dirty="0"/>
          </a:p>
        </p:txBody>
      </p:sp>
      <p:sp>
        <p:nvSpPr>
          <p:cNvPr id="5" name="Shape 3"/>
          <p:cNvSpPr/>
          <p:nvPr/>
        </p:nvSpPr>
        <p:spPr>
          <a:xfrm>
            <a:off x="365760" y="1005840"/>
            <a:ext cx="274320" cy="274320"/>
          </a:xfrm>
          <a:prstGeom prst="ellipse">
            <a:avLst/>
          </a:prstGeom>
          <a:solidFill>
            <a:srgbClr val="1E2761"/>
          </a:solidFill>
          <a:ln w="12700">
            <a:solidFill>
              <a:srgbClr val="1E2761"/>
            </a:solidFill>
            <a:prstDash val="solid"/>
          </a:ln>
        </p:spPr>
      </p:sp>
      <p:sp>
        <p:nvSpPr>
          <p:cNvPr id="6" name="Text 4"/>
          <p:cNvSpPr/>
          <p:nvPr/>
        </p:nvSpPr>
        <p:spPr>
          <a:xfrm>
            <a:off x="365760"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731520" y="96012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Webhook (inbound query)</a:t>
            </a:r>
            <a:endParaRPr lang="en-US" sz="1100" dirty="0"/>
          </a:p>
        </p:txBody>
      </p:sp>
      <p:sp>
        <p:nvSpPr>
          <p:cNvPr id="8" name="Shape 6"/>
          <p:cNvSpPr/>
          <p:nvPr/>
        </p:nvSpPr>
        <p:spPr>
          <a:xfrm>
            <a:off x="365760" y="1389888"/>
            <a:ext cx="274320" cy="274320"/>
          </a:xfrm>
          <a:prstGeom prst="ellipse">
            <a:avLst/>
          </a:prstGeom>
          <a:solidFill>
            <a:srgbClr val="1E2761"/>
          </a:solidFill>
          <a:ln w="12700">
            <a:solidFill>
              <a:srgbClr val="1E2761"/>
            </a:solidFill>
            <a:prstDash val="solid"/>
          </a:ln>
        </p:spPr>
      </p:sp>
      <p:sp>
        <p:nvSpPr>
          <p:cNvPr id="9" name="Text 7"/>
          <p:cNvSpPr/>
          <p:nvPr/>
        </p:nvSpPr>
        <p:spPr>
          <a:xfrm>
            <a:off x="36576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731520" y="134416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HMAC signature verify</a:t>
            </a:r>
            <a:endParaRPr lang="en-US" sz="1100" dirty="0"/>
          </a:p>
        </p:txBody>
      </p:sp>
      <p:sp>
        <p:nvSpPr>
          <p:cNvPr id="11" name="Shape 9"/>
          <p:cNvSpPr/>
          <p:nvPr/>
        </p:nvSpPr>
        <p:spPr>
          <a:xfrm>
            <a:off x="365760" y="1773936"/>
            <a:ext cx="274320" cy="274320"/>
          </a:xfrm>
          <a:prstGeom prst="ellipse">
            <a:avLst/>
          </a:prstGeom>
          <a:solidFill>
            <a:srgbClr val="1E2761"/>
          </a:solidFill>
          <a:ln w="12700">
            <a:solidFill>
              <a:srgbClr val="1E2761"/>
            </a:solidFill>
            <a:prstDash val="solid"/>
          </a:ln>
        </p:spPr>
      </p:sp>
      <p:sp>
        <p:nvSpPr>
          <p:cNvPr id="12" name="Text 10"/>
          <p:cNvSpPr/>
          <p:nvPr/>
        </p:nvSpPr>
        <p:spPr>
          <a:xfrm>
            <a:off x="365760" y="1773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Text 11"/>
          <p:cNvSpPr/>
          <p:nvPr/>
        </p:nvSpPr>
        <p:spPr>
          <a:xfrm>
            <a:off x="731520" y="172821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API key auth</a:t>
            </a:r>
            <a:endParaRPr lang="en-US" sz="1100" dirty="0"/>
          </a:p>
        </p:txBody>
      </p:sp>
      <p:sp>
        <p:nvSpPr>
          <p:cNvPr id="14" name="Shape 12"/>
          <p:cNvSpPr/>
          <p:nvPr/>
        </p:nvSpPr>
        <p:spPr>
          <a:xfrm>
            <a:off x="365760" y="2157984"/>
            <a:ext cx="274320" cy="274320"/>
          </a:xfrm>
          <a:prstGeom prst="ellipse">
            <a:avLst/>
          </a:prstGeom>
          <a:solidFill>
            <a:srgbClr val="1E2761"/>
          </a:solidFill>
          <a:ln w="12700">
            <a:solidFill>
              <a:srgbClr val="1E2761"/>
            </a:solidFill>
            <a:prstDash val="solid"/>
          </a:ln>
        </p:spPr>
      </p:sp>
      <p:sp>
        <p:nvSpPr>
          <p:cNvPr id="15" name="Text 13"/>
          <p:cNvSpPr/>
          <p:nvPr/>
        </p:nvSpPr>
        <p:spPr>
          <a:xfrm>
            <a:off x="365760" y="21579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6" name="Text 14"/>
          <p:cNvSpPr/>
          <p:nvPr/>
        </p:nvSpPr>
        <p:spPr>
          <a:xfrm>
            <a:off x="731520" y="2112264"/>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Rate limiter (10 req/min)</a:t>
            </a:r>
            <a:endParaRPr lang="en-US" sz="1100" dirty="0"/>
          </a:p>
        </p:txBody>
      </p:sp>
      <p:sp>
        <p:nvSpPr>
          <p:cNvPr id="17" name="Shape 15"/>
          <p:cNvSpPr/>
          <p:nvPr/>
        </p:nvSpPr>
        <p:spPr>
          <a:xfrm>
            <a:off x="365760" y="2542032"/>
            <a:ext cx="274320" cy="274320"/>
          </a:xfrm>
          <a:prstGeom prst="ellipse">
            <a:avLst/>
          </a:prstGeom>
          <a:solidFill>
            <a:srgbClr val="1E2761"/>
          </a:solidFill>
          <a:ln w="12700">
            <a:solidFill>
              <a:srgbClr val="1E2761"/>
            </a:solidFill>
            <a:prstDash val="solid"/>
          </a:ln>
        </p:spPr>
      </p:sp>
      <p:sp>
        <p:nvSpPr>
          <p:cNvPr id="18" name="Text 16"/>
          <p:cNvSpPr/>
          <p:nvPr/>
        </p:nvSpPr>
        <p:spPr>
          <a:xfrm>
            <a:off x="365760" y="25420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Text 17"/>
          <p:cNvSpPr/>
          <p:nvPr/>
        </p:nvSpPr>
        <p:spPr>
          <a:xfrm>
            <a:off x="731520" y="2496312"/>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Prompt-injection filter</a:t>
            </a:r>
            <a:endParaRPr lang="en-US" sz="1100" dirty="0"/>
          </a:p>
        </p:txBody>
      </p:sp>
      <p:sp>
        <p:nvSpPr>
          <p:cNvPr id="20" name="Shape 18"/>
          <p:cNvSpPr/>
          <p:nvPr/>
        </p:nvSpPr>
        <p:spPr>
          <a:xfrm>
            <a:off x="365760" y="2926080"/>
            <a:ext cx="274320" cy="274320"/>
          </a:xfrm>
          <a:prstGeom prst="ellipse">
            <a:avLst/>
          </a:prstGeom>
          <a:solidFill>
            <a:srgbClr val="1E2761"/>
          </a:solidFill>
          <a:ln w="12700">
            <a:solidFill>
              <a:srgbClr val="1E2761"/>
            </a:solidFill>
            <a:prstDash val="solid"/>
          </a:ln>
        </p:spPr>
      </p:sp>
      <p:sp>
        <p:nvSpPr>
          <p:cNvPr id="21" name="Text 19"/>
          <p:cNvSpPr/>
          <p:nvPr/>
        </p:nvSpPr>
        <p:spPr>
          <a:xfrm>
            <a:off x="365760"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2" name="Text 20"/>
          <p:cNvSpPr/>
          <p:nvPr/>
        </p:nvSpPr>
        <p:spPr>
          <a:xfrm>
            <a:off x="731520" y="288036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Query classifier (LLM)</a:t>
            </a:r>
            <a:endParaRPr lang="en-US" sz="1100" dirty="0"/>
          </a:p>
        </p:txBody>
      </p:sp>
      <p:sp>
        <p:nvSpPr>
          <p:cNvPr id="23" name="Shape 21"/>
          <p:cNvSpPr/>
          <p:nvPr/>
        </p:nvSpPr>
        <p:spPr>
          <a:xfrm>
            <a:off x="365760" y="3310128"/>
            <a:ext cx="274320" cy="274320"/>
          </a:xfrm>
          <a:prstGeom prst="ellipse">
            <a:avLst/>
          </a:prstGeom>
          <a:solidFill>
            <a:srgbClr val="1E2761"/>
          </a:solidFill>
          <a:ln w="12700">
            <a:solidFill>
              <a:srgbClr val="1E2761"/>
            </a:solidFill>
            <a:prstDash val="solid"/>
          </a:ln>
        </p:spPr>
      </p:sp>
      <p:sp>
        <p:nvSpPr>
          <p:cNvPr id="24" name="Text 22"/>
          <p:cNvSpPr/>
          <p:nvPr/>
        </p:nvSpPr>
        <p:spPr>
          <a:xfrm>
            <a:off x="365760" y="3310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5" name="Text 23"/>
          <p:cNvSpPr/>
          <p:nvPr/>
        </p:nvSpPr>
        <p:spPr>
          <a:xfrm>
            <a:off x="731520" y="326440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Parallel split</a:t>
            </a:r>
            <a:endParaRPr lang="en-US" sz="1100" dirty="0"/>
          </a:p>
        </p:txBody>
      </p:sp>
      <p:sp>
        <p:nvSpPr>
          <p:cNvPr id="26" name="Shape 24"/>
          <p:cNvSpPr/>
          <p:nvPr/>
        </p:nvSpPr>
        <p:spPr>
          <a:xfrm>
            <a:off x="365760" y="3694176"/>
            <a:ext cx="274320" cy="274320"/>
          </a:xfrm>
          <a:prstGeom prst="ellipse">
            <a:avLst/>
          </a:prstGeom>
          <a:solidFill>
            <a:srgbClr val="1E2761"/>
          </a:solidFill>
          <a:ln w="12700">
            <a:solidFill>
              <a:srgbClr val="1E2761"/>
            </a:solidFill>
            <a:prstDash val="solid"/>
          </a:ln>
        </p:spPr>
      </p:sp>
      <p:sp>
        <p:nvSpPr>
          <p:cNvPr id="27" name="Text 25"/>
          <p:cNvSpPr/>
          <p:nvPr/>
        </p:nvSpPr>
        <p:spPr>
          <a:xfrm>
            <a:off x="365760" y="36941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8" name="Text 26"/>
          <p:cNvSpPr/>
          <p:nvPr/>
        </p:nvSpPr>
        <p:spPr>
          <a:xfrm>
            <a:off x="731520" y="364845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RAG retrieve (internal)</a:t>
            </a:r>
            <a:endParaRPr lang="en-US" sz="1100" dirty="0"/>
          </a:p>
        </p:txBody>
      </p:sp>
      <p:sp>
        <p:nvSpPr>
          <p:cNvPr id="29" name="Shape 27"/>
          <p:cNvSpPr/>
          <p:nvPr/>
        </p:nvSpPr>
        <p:spPr>
          <a:xfrm>
            <a:off x="4754880" y="1005840"/>
            <a:ext cx="274320" cy="274320"/>
          </a:xfrm>
          <a:prstGeom prst="ellipse">
            <a:avLst/>
          </a:prstGeom>
          <a:solidFill>
            <a:srgbClr val="1E2761"/>
          </a:solidFill>
          <a:ln w="12700">
            <a:solidFill>
              <a:srgbClr val="1E2761"/>
            </a:solidFill>
            <a:prstDash val="solid"/>
          </a:ln>
        </p:spPr>
      </p:sp>
      <p:sp>
        <p:nvSpPr>
          <p:cNvPr id="30" name="Text 28"/>
          <p:cNvSpPr/>
          <p:nvPr/>
        </p:nvSpPr>
        <p:spPr>
          <a:xfrm>
            <a:off x="4754880"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31" name="Text 29"/>
          <p:cNvSpPr/>
          <p:nvPr/>
        </p:nvSpPr>
        <p:spPr>
          <a:xfrm>
            <a:off x="5120640" y="96012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NIST NVD CVE call (external)</a:t>
            </a:r>
            <a:endParaRPr lang="en-US" sz="1100" dirty="0"/>
          </a:p>
        </p:txBody>
      </p:sp>
      <p:sp>
        <p:nvSpPr>
          <p:cNvPr id="32" name="Shape 30"/>
          <p:cNvSpPr/>
          <p:nvPr/>
        </p:nvSpPr>
        <p:spPr>
          <a:xfrm>
            <a:off x="4754880" y="1389888"/>
            <a:ext cx="274320" cy="274320"/>
          </a:xfrm>
          <a:prstGeom prst="ellipse">
            <a:avLst/>
          </a:prstGeom>
          <a:solidFill>
            <a:srgbClr val="1E2761"/>
          </a:solidFill>
          <a:ln w="12700">
            <a:solidFill>
              <a:srgbClr val="1E2761"/>
            </a:solidFill>
            <a:prstDash val="solid"/>
          </a:ln>
        </p:spPr>
      </p:sp>
      <p:sp>
        <p:nvSpPr>
          <p:cNvPr id="33" name="Text 31"/>
          <p:cNvSpPr/>
          <p:nvPr/>
        </p:nvSpPr>
        <p:spPr>
          <a:xfrm>
            <a:off x="475488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4" name="Text 32"/>
          <p:cNvSpPr/>
          <p:nvPr/>
        </p:nvSpPr>
        <p:spPr>
          <a:xfrm>
            <a:off x="5120640" y="134416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CISA ICS-CERT feed (external)</a:t>
            </a:r>
            <a:endParaRPr lang="en-US" sz="1100" dirty="0"/>
          </a:p>
        </p:txBody>
      </p:sp>
      <p:sp>
        <p:nvSpPr>
          <p:cNvPr id="35" name="Shape 33"/>
          <p:cNvSpPr/>
          <p:nvPr/>
        </p:nvSpPr>
        <p:spPr>
          <a:xfrm>
            <a:off x="4754880" y="1773936"/>
            <a:ext cx="274320" cy="274320"/>
          </a:xfrm>
          <a:prstGeom prst="ellipse">
            <a:avLst/>
          </a:prstGeom>
          <a:solidFill>
            <a:srgbClr val="1E2761"/>
          </a:solidFill>
          <a:ln w="12700">
            <a:solidFill>
              <a:srgbClr val="1E2761"/>
            </a:solidFill>
            <a:prstDash val="solid"/>
          </a:ln>
        </p:spPr>
      </p:sp>
      <p:sp>
        <p:nvSpPr>
          <p:cNvPr id="36" name="Text 34"/>
          <p:cNvSpPr/>
          <p:nvPr/>
        </p:nvSpPr>
        <p:spPr>
          <a:xfrm>
            <a:off x="4754880" y="1773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7" name="Text 35"/>
          <p:cNvSpPr/>
          <p:nvPr/>
        </p:nvSpPr>
        <p:spPr>
          <a:xfrm>
            <a:off x="5120640" y="172821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Merge results</a:t>
            </a:r>
            <a:endParaRPr lang="en-US" sz="1100" dirty="0"/>
          </a:p>
        </p:txBody>
      </p:sp>
      <p:sp>
        <p:nvSpPr>
          <p:cNvPr id="38" name="Shape 36"/>
          <p:cNvSpPr/>
          <p:nvPr/>
        </p:nvSpPr>
        <p:spPr>
          <a:xfrm>
            <a:off x="4754880" y="2157984"/>
            <a:ext cx="274320" cy="274320"/>
          </a:xfrm>
          <a:prstGeom prst="ellipse">
            <a:avLst/>
          </a:prstGeom>
          <a:solidFill>
            <a:srgbClr val="1E2761"/>
          </a:solidFill>
          <a:ln w="12700">
            <a:solidFill>
              <a:srgbClr val="1E2761"/>
            </a:solidFill>
            <a:prstDash val="solid"/>
          </a:ln>
        </p:spPr>
      </p:sp>
      <p:sp>
        <p:nvSpPr>
          <p:cNvPr id="39" name="Text 37"/>
          <p:cNvSpPr/>
          <p:nvPr/>
        </p:nvSpPr>
        <p:spPr>
          <a:xfrm>
            <a:off x="4754880" y="21579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40" name="Text 38"/>
          <p:cNvSpPr/>
          <p:nvPr/>
        </p:nvSpPr>
        <p:spPr>
          <a:xfrm>
            <a:off x="5120640" y="2112264"/>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MITRE ATT&amp;CK mapper</a:t>
            </a:r>
            <a:endParaRPr lang="en-US" sz="1100" dirty="0"/>
          </a:p>
        </p:txBody>
      </p:sp>
      <p:sp>
        <p:nvSpPr>
          <p:cNvPr id="41" name="Shape 39"/>
          <p:cNvSpPr/>
          <p:nvPr/>
        </p:nvSpPr>
        <p:spPr>
          <a:xfrm>
            <a:off x="4754880" y="2542032"/>
            <a:ext cx="274320" cy="274320"/>
          </a:xfrm>
          <a:prstGeom prst="ellipse">
            <a:avLst/>
          </a:prstGeom>
          <a:solidFill>
            <a:srgbClr val="1E2761"/>
          </a:solidFill>
          <a:ln w="12700">
            <a:solidFill>
              <a:srgbClr val="1E2761"/>
            </a:solidFill>
            <a:prstDash val="solid"/>
          </a:ln>
        </p:spPr>
      </p:sp>
      <p:sp>
        <p:nvSpPr>
          <p:cNvPr id="42" name="Text 40"/>
          <p:cNvSpPr/>
          <p:nvPr/>
        </p:nvSpPr>
        <p:spPr>
          <a:xfrm>
            <a:off x="4754880" y="25420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43" name="Text 41"/>
          <p:cNvSpPr/>
          <p:nvPr/>
        </p:nvSpPr>
        <p:spPr>
          <a:xfrm>
            <a:off x="5120640" y="2496312"/>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Compliance mapper</a:t>
            </a:r>
            <a:endParaRPr lang="en-US" sz="1100" dirty="0"/>
          </a:p>
        </p:txBody>
      </p:sp>
      <p:sp>
        <p:nvSpPr>
          <p:cNvPr id="44" name="Shape 42"/>
          <p:cNvSpPr/>
          <p:nvPr/>
        </p:nvSpPr>
        <p:spPr>
          <a:xfrm>
            <a:off x="4754880" y="2926080"/>
            <a:ext cx="274320" cy="274320"/>
          </a:xfrm>
          <a:prstGeom prst="ellipse">
            <a:avLst/>
          </a:prstGeom>
          <a:solidFill>
            <a:srgbClr val="1E2761"/>
          </a:solidFill>
          <a:ln w="12700">
            <a:solidFill>
              <a:srgbClr val="1E2761"/>
            </a:solidFill>
            <a:prstDash val="solid"/>
          </a:ln>
        </p:spPr>
      </p:sp>
      <p:sp>
        <p:nvSpPr>
          <p:cNvPr id="45" name="Text 43"/>
          <p:cNvSpPr/>
          <p:nvPr/>
        </p:nvSpPr>
        <p:spPr>
          <a:xfrm>
            <a:off x="4754880"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46" name="Text 44"/>
          <p:cNvSpPr/>
          <p:nvPr/>
        </p:nvSpPr>
        <p:spPr>
          <a:xfrm>
            <a:off x="5120640" y="288036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Synthesizer (LLM w/ tools)</a:t>
            </a:r>
            <a:endParaRPr lang="en-US" sz="1100" dirty="0"/>
          </a:p>
        </p:txBody>
      </p:sp>
      <p:sp>
        <p:nvSpPr>
          <p:cNvPr id="47" name="Shape 45"/>
          <p:cNvSpPr/>
          <p:nvPr/>
        </p:nvSpPr>
        <p:spPr>
          <a:xfrm>
            <a:off x="4754880" y="3310128"/>
            <a:ext cx="274320" cy="274320"/>
          </a:xfrm>
          <a:prstGeom prst="ellipse">
            <a:avLst/>
          </a:prstGeom>
          <a:solidFill>
            <a:srgbClr val="1E2761"/>
          </a:solidFill>
          <a:ln w="12700">
            <a:solidFill>
              <a:srgbClr val="1E2761"/>
            </a:solidFill>
            <a:prstDash val="solid"/>
          </a:ln>
        </p:spPr>
      </p:sp>
      <p:sp>
        <p:nvSpPr>
          <p:cNvPr id="48" name="Text 46"/>
          <p:cNvSpPr/>
          <p:nvPr/>
        </p:nvSpPr>
        <p:spPr>
          <a:xfrm>
            <a:off x="4754880" y="3310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49" name="Text 47"/>
          <p:cNvSpPr/>
          <p:nvPr/>
        </p:nvSpPr>
        <p:spPr>
          <a:xfrm>
            <a:off x="5120640" y="326440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LLM-as-judge evaluator</a:t>
            </a:r>
            <a:endParaRPr lang="en-US" sz="1100" dirty="0"/>
          </a:p>
        </p:txBody>
      </p:sp>
      <p:sp>
        <p:nvSpPr>
          <p:cNvPr id="50" name="Shape 48"/>
          <p:cNvSpPr/>
          <p:nvPr/>
        </p:nvSpPr>
        <p:spPr>
          <a:xfrm>
            <a:off x="4754880" y="3694176"/>
            <a:ext cx="274320" cy="274320"/>
          </a:xfrm>
          <a:prstGeom prst="ellipse">
            <a:avLst/>
          </a:prstGeom>
          <a:solidFill>
            <a:srgbClr val="1E2761"/>
          </a:solidFill>
          <a:ln w="12700">
            <a:solidFill>
              <a:srgbClr val="1E2761"/>
            </a:solidFill>
            <a:prstDash val="solid"/>
          </a:ln>
        </p:spPr>
      </p:sp>
      <p:sp>
        <p:nvSpPr>
          <p:cNvPr id="51" name="Text 49"/>
          <p:cNvSpPr/>
          <p:nvPr/>
        </p:nvSpPr>
        <p:spPr>
          <a:xfrm>
            <a:off x="4754880" y="36941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52" name="Text 50"/>
          <p:cNvSpPr/>
          <p:nvPr/>
        </p:nvSpPr>
        <p:spPr>
          <a:xfrm>
            <a:off x="5120640" y="364845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Conditional router (PASS / FAIL → human queue)</a:t>
            </a:r>
            <a:endParaRPr lang="en-US" sz="1100" dirty="0"/>
          </a:p>
        </p:txBody>
      </p:sp>
      <p:sp>
        <p:nvSpPr>
          <p:cNvPr id="53" name="Text 51"/>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n8n Workflow 2 — Threat Surveillance + Eval Drift</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15 nodes · scheduled every 4h · autonomous threat hunting</a:t>
            </a:r>
            <a:endParaRPr lang="en-US" sz="1100" dirty="0"/>
          </a:p>
        </p:txBody>
      </p:sp>
      <p:sp>
        <p:nvSpPr>
          <p:cNvPr id="5" name="Shape 3"/>
          <p:cNvSpPr/>
          <p:nvPr/>
        </p:nvSpPr>
        <p:spPr>
          <a:xfrm>
            <a:off x="365760" y="1005840"/>
            <a:ext cx="274320" cy="274320"/>
          </a:xfrm>
          <a:prstGeom prst="ellipse">
            <a:avLst/>
          </a:prstGeom>
          <a:solidFill>
            <a:srgbClr val="F96167"/>
          </a:solidFill>
          <a:ln w="12700">
            <a:solidFill>
              <a:srgbClr val="F96167"/>
            </a:solidFill>
            <a:prstDash val="solid"/>
          </a:ln>
        </p:spPr>
      </p:sp>
      <p:sp>
        <p:nvSpPr>
          <p:cNvPr id="6" name="Text 4"/>
          <p:cNvSpPr/>
          <p:nvPr/>
        </p:nvSpPr>
        <p:spPr>
          <a:xfrm>
            <a:off x="365760"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731520" y="96012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Schedule trigger (4h)</a:t>
            </a:r>
            <a:endParaRPr lang="en-US" sz="1100" dirty="0"/>
          </a:p>
        </p:txBody>
      </p:sp>
      <p:sp>
        <p:nvSpPr>
          <p:cNvPr id="8" name="Shape 6"/>
          <p:cNvSpPr/>
          <p:nvPr/>
        </p:nvSpPr>
        <p:spPr>
          <a:xfrm>
            <a:off x="365760" y="1389888"/>
            <a:ext cx="274320" cy="274320"/>
          </a:xfrm>
          <a:prstGeom prst="ellipse">
            <a:avLst/>
          </a:prstGeom>
          <a:solidFill>
            <a:srgbClr val="F96167"/>
          </a:solidFill>
          <a:ln w="12700">
            <a:solidFill>
              <a:srgbClr val="F96167"/>
            </a:solidFill>
            <a:prstDash val="solid"/>
          </a:ln>
        </p:spPr>
      </p:sp>
      <p:sp>
        <p:nvSpPr>
          <p:cNvPr id="9" name="Text 7"/>
          <p:cNvSpPr/>
          <p:nvPr/>
        </p:nvSpPr>
        <p:spPr>
          <a:xfrm>
            <a:off x="36576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731520" y="134416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Load corpus deltas</a:t>
            </a:r>
            <a:endParaRPr lang="en-US" sz="1100" dirty="0"/>
          </a:p>
        </p:txBody>
      </p:sp>
      <p:sp>
        <p:nvSpPr>
          <p:cNvPr id="11" name="Shape 9"/>
          <p:cNvSpPr/>
          <p:nvPr/>
        </p:nvSpPr>
        <p:spPr>
          <a:xfrm>
            <a:off x="365760" y="1773936"/>
            <a:ext cx="274320" cy="274320"/>
          </a:xfrm>
          <a:prstGeom prst="ellipse">
            <a:avLst/>
          </a:prstGeom>
          <a:solidFill>
            <a:srgbClr val="F96167"/>
          </a:solidFill>
          <a:ln w="12700">
            <a:solidFill>
              <a:srgbClr val="F96167"/>
            </a:solidFill>
            <a:prstDash val="solid"/>
          </a:ln>
        </p:spPr>
      </p:sp>
      <p:sp>
        <p:nvSpPr>
          <p:cNvPr id="12" name="Text 10"/>
          <p:cNvSpPr/>
          <p:nvPr/>
        </p:nvSpPr>
        <p:spPr>
          <a:xfrm>
            <a:off x="365760" y="1773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Text 11"/>
          <p:cNvSpPr/>
          <p:nvPr/>
        </p:nvSpPr>
        <p:spPr>
          <a:xfrm>
            <a:off x="731520" y="172821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Security signal scanner</a:t>
            </a:r>
            <a:endParaRPr lang="en-US" sz="1100" dirty="0"/>
          </a:p>
        </p:txBody>
      </p:sp>
      <p:sp>
        <p:nvSpPr>
          <p:cNvPr id="14" name="Shape 12"/>
          <p:cNvSpPr/>
          <p:nvPr/>
        </p:nvSpPr>
        <p:spPr>
          <a:xfrm>
            <a:off x="365760" y="2157984"/>
            <a:ext cx="274320" cy="274320"/>
          </a:xfrm>
          <a:prstGeom prst="ellipse">
            <a:avLst/>
          </a:prstGeom>
          <a:solidFill>
            <a:srgbClr val="F96167"/>
          </a:solidFill>
          <a:ln w="12700">
            <a:solidFill>
              <a:srgbClr val="F96167"/>
            </a:solidFill>
            <a:prstDash val="solid"/>
          </a:ln>
        </p:spPr>
      </p:sp>
      <p:sp>
        <p:nvSpPr>
          <p:cNvPr id="15" name="Text 13"/>
          <p:cNvSpPr/>
          <p:nvPr/>
        </p:nvSpPr>
        <p:spPr>
          <a:xfrm>
            <a:off x="365760" y="21579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6" name="Text 14"/>
          <p:cNvSpPr/>
          <p:nvPr/>
        </p:nvSpPr>
        <p:spPr>
          <a:xfrm>
            <a:off x="731520" y="2112264"/>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NVD CVE lookup (external)</a:t>
            </a:r>
            <a:endParaRPr lang="en-US" sz="1100" dirty="0"/>
          </a:p>
        </p:txBody>
      </p:sp>
      <p:sp>
        <p:nvSpPr>
          <p:cNvPr id="17" name="Shape 15"/>
          <p:cNvSpPr/>
          <p:nvPr/>
        </p:nvSpPr>
        <p:spPr>
          <a:xfrm>
            <a:off x="365760" y="2542032"/>
            <a:ext cx="274320" cy="274320"/>
          </a:xfrm>
          <a:prstGeom prst="ellipse">
            <a:avLst/>
          </a:prstGeom>
          <a:solidFill>
            <a:srgbClr val="F96167"/>
          </a:solidFill>
          <a:ln w="12700">
            <a:solidFill>
              <a:srgbClr val="F96167"/>
            </a:solidFill>
            <a:prstDash val="solid"/>
          </a:ln>
        </p:spPr>
      </p:sp>
      <p:sp>
        <p:nvSpPr>
          <p:cNvPr id="18" name="Text 16"/>
          <p:cNvSpPr/>
          <p:nvPr/>
        </p:nvSpPr>
        <p:spPr>
          <a:xfrm>
            <a:off x="365760" y="25420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Text 17"/>
          <p:cNvSpPr/>
          <p:nvPr/>
        </p:nvSpPr>
        <p:spPr>
          <a:xfrm>
            <a:off x="731520" y="2496312"/>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CISA ICS-CERT fetch (external)</a:t>
            </a:r>
            <a:endParaRPr lang="en-US" sz="1100" dirty="0"/>
          </a:p>
        </p:txBody>
      </p:sp>
      <p:sp>
        <p:nvSpPr>
          <p:cNvPr id="20" name="Shape 18"/>
          <p:cNvSpPr/>
          <p:nvPr/>
        </p:nvSpPr>
        <p:spPr>
          <a:xfrm>
            <a:off x="365760" y="2926080"/>
            <a:ext cx="274320" cy="274320"/>
          </a:xfrm>
          <a:prstGeom prst="ellipse">
            <a:avLst/>
          </a:prstGeom>
          <a:solidFill>
            <a:srgbClr val="F96167"/>
          </a:solidFill>
          <a:ln w="12700">
            <a:solidFill>
              <a:srgbClr val="F96167"/>
            </a:solidFill>
            <a:prstDash val="solid"/>
          </a:ln>
        </p:spPr>
      </p:sp>
      <p:sp>
        <p:nvSpPr>
          <p:cNvPr id="21" name="Text 19"/>
          <p:cNvSpPr/>
          <p:nvPr/>
        </p:nvSpPr>
        <p:spPr>
          <a:xfrm>
            <a:off x="365760"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2" name="Text 20"/>
          <p:cNvSpPr/>
          <p:nvPr/>
        </p:nvSpPr>
        <p:spPr>
          <a:xfrm>
            <a:off x="731520" y="288036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Severity classifier (LLM)</a:t>
            </a:r>
            <a:endParaRPr lang="en-US" sz="1100" dirty="0"/>
          </a:p>
        </p:txBody>
      </p:sp>
      <p:sp>
        <p:nvSpPr>
          <p:cNvPr id="23" name="Shape 21"/>
          <p:cNvSpPr/>
          <p:nvPr/>
        </p:nvSpPr>
        <p:spPr>
          <a:xfrm>
            <a:off x="365760" y="3310128"/>
            <a:ext cx="274320" cy="274320"/>
          </a:xfrm>
          <a:prstGeom prst="ellipse">
            <a:avLst/>
          </a:prstGeom>
          <a:solidFill>
            <a:srgbClr val="F96167"/>
          </a:solidFill>
          <a:ln w="12700">
            <a:solidFill>
              <a:srgbClr val="F96167"/>
            </a:solidFill>
            <a:prstDash val="solid"/>
          </a:ln>
        </p:spPr>
      </p:sp>
      <p:sp>
        <p:nvSpPr>
          <p:cNvPr id="24" name="Text 22"/>
          <p:cNvSpPr/>
          <p:nvPr/>
        </p:nvSpPr>
        <p:spPr>
          <a:xfrm>
            <a:off x="365760" y="3310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25" name="Text 23"/>
          <p:cNvSpPr/>
          <p:nvPr/>
        </p:nvSpPr>
        <p:spPr>
          <a:xfrm>
            <a:off x="731520" y="326440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ATT&amp;CK for ICS mapper</a:t>
            </a:r>
            <a:endParaRPr lang="en-US" sz="1100" dirty="0"/>
          </a:p>
        </p:txBody>
      </p:sp>
      <p:sp>
        <p:nvSpPr>
          <p:cNvPr id="26" name="Shape 24"/>
          <p:cNvSpPr/>
          <p:nvPr/>
        </p:nvSpPr>
        <p:spPr>
          <a:xfrm>
            <a:off x="365760" y="3694176"/>
            <a:ext cx="274320" cy="274320"/>
          </a:xfrm>
          <a:prstGeom prst="ellipse">
            <a:avLst/>
          </a:prstGeom>
          <a:solidFill>
            <a:srgbClr val="F96167"/>
          </a:solidFill>
          <a:ln w="12700">
            <a:solidFill>
              <a:srgbClr val="F96167"/>
            </a:solidFill>
            <a:prstDash val="solid"/>
          </a:ln>
        </p:spPr>
      </p:sp>
      <p:sp>
        <p:nvSpPr>
          <p:cNvPr id="27" name="Text 25"/>
          <p:cNvSpPr/>
          <p:nvPr/>
        </p:nvSpPr>
        <p:spPr>
          <a:xfrm>
            <a:off x="365760" y="36941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28" name="Text 26"/>
          <p:cNvSpPr/>
          <p:nvPr/>
        </p:nvSpPr>
        <p:spPr>
          <a:xfrm>
            <a:off x="731520" y="364845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Gap detector</a:t>
            </a:r>
            <a:endParaRPr lang="en-US" sz="1100" dirty="0"/>
          </a:p>
        </p:txBody>
      </p:sp>
      <p:sp>
        <p:nvSpPr>
          <p:cNvPr id="29" name="Shape 27"/>
          <p:cNvSpPr/>
          <p:nvPr/>
        </p:nvSpPr>
        <p:spPr>
          <a:xfrm>
            <a:off x="4754880" y="1005840"/>
            <a:ext cx="274320" cy="274320"/>
          </a:xfrm>
          <a:prstGeom prst="ellipse">
            <a:avLst/>
          </a:prstGeom>
          <a:solidFill>
            <a:srgbClr val="F96167"/>
          </a:solidFill>
          <a:ln w="12700">
            <a:solidFill>
              <a:srgbClr val="F96167"/>
            </a:solidFill>
            <a:prstDash val="solid"/>
          </a:ln>
        </p:spPr>
      </p:sp>
      <p:sp>
        <p:nvSpPr>
          <p:cNvPr id="30" name="Text 28"/>
          <p:cNvSpPr/>
          <p:nvPr/>
        </p:nvSpPr>
        <p:spPr>
          <a:xfrm>
            <a:off x="4754880"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31" name="Text 29"/>
          <p:cNvSpPr/>
          <p:nvPr/>
        </p:nvSpPr>
        <p:spPr>
          <a:xfrm>
            <a:off x="5120640" y="96012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Compliance impact assessor</a:t>
            </a:r>
            <a:endParaRPr lang="en-US" sz="1100" dirty="0"/>
          </a:p>
        </p:txBody>
      </p:sp>
      <p:sp>
        <p:nvSpPr>
          <p:cNvPr id="32" name="Shape 30"/>
          <p:cNvSpPr/>
          <p:nvPr/>
        </p:nvSpPr>
        <p:spPr>
          <a:xfrm>
            <a:off x="4754880" y="1389888"/>
            <a:ext cx="274320" cy="274320"/>
          </a:xfrm>
          <a:prstGeom prst="ellipse">
            <a:avLst/>
          </a:prstGeom>
          <a:solidFill>
            <a:srgbClr val="F96167"/>
          </a:solidFill>
          <a:ln w="12700">
            <a:solidFill>
              <a:srgbClr val="F96167"/>
            </a:solidFill>
            <a:prstDash val="solid"/>
          </a:ln>
        </p:spPr>
      </p:sp>
      <p:sp>
        <p:nvSpPr>
          <p:cNvPr id="33" name="Text 31"/>
          <p:cNvSpPr/>
          <p:nvPr/>
        </p:nvSpPr>
        <p:spPr>
          <a:xfrm>
            <a:off x="475488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4" name="Text 32"/>
          <p:cNvSpPr/>
          <p:nvPr/>
        </p:nvSpPr>
        <p:spPr>
          <a:xfrm>
            <a:off x="5120640" y="134416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Eval-drift monitor (golden re-score)</a:t>
            </a:r>
            <a:endParaRPr lang="en-US" sz="1100" dirty="0"/>
          </a:p>
        </p:txBody>
      </p:sp>
      <p:sp>
        <p:nvSpPr>
          <p:cNvPr id="35" name="Shape 33"/>
          <p:cNvSpPr/>
          <p:nvPr/>
        </p:nvSpPr>
        <p:spPr>
          <a:xfrm>
            <a:off x="4754880" y="1773936"/>
            <a:ext cx="274320" cy="274320"/>
          </a:xfrm>
          <a:prstGeom prst="ellipse">
            <a:avLst/>
          </a:prstGeom>
          <a:solidFill>
            <a:srgbClr val="F96167"/>
          </a:solidFill>
          <a:ln w="12700">
            <a:solidFill>
              <a:srgbClr val="F96167"/>
            </a:solidFill>
            <a:prstDash val="solid"/>
          </a:ln>
        </p:spPr>
      </p:sp>
      <p:sp>
        <p:nvSpPr>
          <p:cNvPr id="36" name="Text 34"/>
          <p:cNvSpPr/>
          <p:nvPr/>
        </p:nvSpPr>
        <p:spPr>
          <a:xfrm>
            <a:off x="4754880" y="1773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7" name="Text 35"/>
          <p:cNvSpPr/>
          <p:nvPr/>
        </p:nvSpPr>
        <p:spPr>
          <a:xfrm>
            <a:off x="5120640" y="1728216"/>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Alert router (severity-based)</a:t>
            </a:r>
            <a:endParaRPr lang="en-US" sz="1100" dirty="0"/>
          </a:p>
        </p:txBody>
      </p:sp>
      <p:sp>
        <p:nvSpPr>
          <p:cNvPr id="38" name="Shape 36"/>
          <p:cNvSpPr/>
          <p:nvPr/>
        </p:nvSpPr>
        <p:spPr>
          <a:xfrm>
            <a:off x="4754880" y="2157984"/>
            <a:ext cx="274320" cy="274320"/>
          </a:xfrm>
          <a:prstGeom prst="ellipse">
            <a:avLst/>
          </a:prstGeom>
          <a:solidFill>
            <a:srgbClr val="F96167"/>
          </a:solidFill>
          <a:ln w="12700">
            <a:solidFill>
              <a:srgbClr val="F96167"/>
            </a:solidFill>
            <a:prstDash val="solid"/>
          </a:ln>
        </p:spPr>
      </p:sp>
      <p:sp>
        <p:nvSpPr>
          <p:cNvPr id="39" name="Text 37"/>
          <p:cNvSpPr/>
          <p:nvPr/>
        </p:nvSpPr>
        <p:spPr>
          <a:xfrm>
            <a:off x="4754880" y="21579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40" name="Text 38"/>
          <p:cNvSpPr/>
          <p:nvPr/>
        </p:nvSpPr>
        <p:spPr>
          <a:xfrm>
            <a:off x="5120640" y="2112264"/>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Email / Slack alert (CRITICAL)</a:t>
            </a:r>
            <a:endParaRPr lang="en-US" sz="1100" dirty="0"/>
          </a:p>
        </p:txBody>
      </p:sp>
      <p:sp>
        <p:nvSpPr>
          <p:cNvPr id="41" name="Shape 39"/>
          <p:cNvSpPr/>
          <p:nvPr/>
        </p:nvSpPr>
        <p:spPr>
          <a:xfrm>
            <a:off x="4754880" y="2542032"/>
            <a:ext cx="274320" cy="274320"/>
          </a:xfrm>
          <a:prstGeom prst="ellipse">
            <a:avLst/>
          </a:prstGeom>
          <a:solidFill>
            <a:srgbClr val="F96167"/>
          </a:solidFill>
          <a:ln w="12700">
            <a:solidFill>
              <a:srgbClr val="F96167"/>
            </a:solidFill>
            <a:prstDash val="solid"/>
          </a:ln>
        </p:spPr>
      </p:sp>
      <p:sp>
        <p:nvSpPr>
          <p:cNvPr id="42" name="Text 40"/>
          <p:cNvSpPr/>
          <p:nvPr/>
        </p:nvSpPr>
        <p:spPr>
          <a:xfrm>
            <a:off x="4754880" y="25420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43" name="Text 41"/>
          <p:cNvSpPr/>
          <p:nvPr/>
        </p:nvSpPr>
        <p:spPr>
          <a:xfrm>
            <a:off x="5120640" y="2496312"/>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Audit log writer (append-only)</a:t>
            </a:r>
            <a:endParaRPr lang="en-US" sz="1100" dirty="0"/>
          </a:p>
        </p:txBody>
      </p:sp>
      <p:sp>
        <p:nvSpPr>
          <p:cNvPr id="44" name="Shape 42"/>
          <p:cNvSpPr/>
          <p:nvPr/>
        </p:nvSpPr>
        <p:spPr>
          <a:xfrm>
            <a:off x="4754880" y="2926080"/>
            <a:ext cx="274320" cy="274320"/>
          </a:xfrm>
          <a:prstGeom prst="ellipse">
            <a:avLst/>
          </a:prstGeom>
          <a:solidFill>
            <a:srgbClr val="F96167"/>
          </a:solidFill>
          <a:ln w="12700">
            <a:solidFill>
              <a:srgbClr val="F96167"/>
            </a:solidFill>
            <a:prstDash val="solid"/>
          </a:ln>
        </p:spPr>
      </p:sp>
      <p:sp>
        <p:nvSpPr>
          <p:cNvPr id="45" name="Text 43"/>
          <p:cNvSpPr/>
          <p:nvPr/>
        </p:nvSpPr>
        <p:spPr>
          <a:xfrm>
            <a:off x="4754880"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46" name="Text 44"/>
          <p:cNvSpPr/>
          <p:nvPr/>
        </p:nvSpPr>
        <p:spPr>
          <a:xfrm>
            <a:off x="5120640" y="2880360"/>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Observability metrics push</a:t>
            </a:r>
            <a:endParaRPr lang="en-US" sz="1100" dirty="0"/>
          </a:p>
        </p:txBody>
      </p:sp>
      <p:sp>
        <p:nvSpPr>
          <p:cNvPr id="47" name="Shape 45"/>
          <p:cNvSpPr/>
          <p:nvPr/>
        </p:nvSpPr>
        <p:spPr>
          <a:xfrm>
            <a:off x="4754880" y="3310128"/>
            <a:ext cx="274320" cy="274320"/>
          </a:xfrm>
          <a:prstGeom prst="ellipse">
            <a:avLst/>
          </a:prstGeom>
          <a:solidFill>
            <a:srgbClr val="F96167"/>
          </a:solidFill>
          <a:ln w="12700">
            <a:solidFill>
              <a:srgbClr val="F96167"/>
            </a:solidFill>
            <a:prstDash val="solid"/>
          </a:ln>
        </p:spPr>
      </p:sp>
      <p:sp>
        <p:nvSpPr>
          <p:cNvPr id="48" name="Text 46"/>
          <p:cNvSpPr/>
          <p:nvPr/>
        </p:nvSpPr>
        <p:spPr>
          <a:xfrm>
            <a:off x="4754880" y="3310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49" name="Text 47"/>
          <p:cNvSpPr/>
          <p:nvPr/>
        </p:nvSpPr>
        <p:spPr>
          <a:xfrm>
            <a:off x="5120640" y="3264408"/>
            <a:ext cx="36576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Archive node (long-term storage)</a:t>
            </a:r>
            <a:endParaRPr lang="en-US" sz="1100" dirty="0"/>
          </a:p>
        </p:txBody>
      </p:sp>
      <p:sp>
        <p:nvSpPr>
          <p:cNvPr id="50" name="Text 48"/>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Productionization</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What it would take to deploy this beyond a reference implementation</a:t>
            </a:r>
            <a:endParaRPr lang="en-US" sz="1100" dirty="0"/>
          </a:p>
        </p:txBody>
      </p:sp>
      <p:sp>
        <p:nvSpPr>
          <p:cNvPr id="5" name="Text 3"/>
          <p:cNvSpPr/>
          <p:nvPr/>
        </p:nvSpPr>
        <p:spPr>
          <a:xfrm>
            <a:off x="457200" y="96012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Deployment</a:t>
            </a:r>
            <a:endParaRPr lang="en-US" sz="1200" dirty="0"/>
          </a:p>
        </p:txBody>
      </p:sp>
      <p:sp>
        <p:nvSpPr>
          <p:cNvPr id="6" name="Text 4"/>
          <p:cNvSpPr/>
          <p:nvPr/>
        </p:nvSpPr>
        <p:spPr>
          <a:xfrm>
            <a:off x="2103120" y="96012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FastAPI on ECS Fargate or Kubernetes. Managed vector DB (Pinecone/Weaviate). Secrets in AWS Secrets Manager or Vault.</a:t>
            </a:r>
            <a:endParaRPr lang="en-US" sz="1100" dirty="0"/>
          </a:p>
        </p:txBody>
      </p:sp>
      <p:sp>
        <p:nvSpPr>
          <p:cNvPr id="7" name="Text 5"/>
          <p:cNvSpPr/>
          <p:nvPr/>
        </p:nvSpPr>
        <p:spPr>
          <a:xfrm>
            <a:off x="457200" y="146304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Scaling</a:t>
            </a:r>
            <a:endParaRPr lang="en-US" sz="1200" dirty="0"/>
          </a:p>
        </p:txBody>
      </p:sp>
      <p:sp>
        <p:nvSpPr>
          <p:cNvPr id="8" name="Text 6"/>
          <p:cNvSpPr/>
          <p:nvPr/>
        </p:nvSpPr>
        <p:spPr>
          <a:xfrm>
            <a:off x="2103120" y="146304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Orchestrator is stateless after audit write. Vector store sharding by tenant or category at ~1M docs.</a:t>
            </a:r>
            <a:endParaRPr lang="en-US" sz="1100" dirty="0"/>
          </a:p>
        </p:txBody>
      </p:sp>
      <p:sp>
        <p:nvSpPr>
          <p:cNvPr id="9" name="Text 7"/>
          <p:cNvSpPr/>
          <p:nvPr/>
        </p:nvSpPr>
        <p:spPr>
          <a:xfrm>
            <a:off x="457200" y="196596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Cost controls</a:t>
            </a:r>
            <a:endParaRPr lang="en-US" sz="1200" dirty="0"/>
          </a:p>
        </p:txBody>
      </p:sp>
      <p:sp>
        <p:nvSpPr>
          <p:cNvPr id="10" name="Text 8"/>
          <p:cNvSpPr/>
          <p:nvPr/>
        </p:nvSpPr>
        <p:spPr>
          <a:xfrm>
            <a:off x="2103120" y="196596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Per-query token budget. Per-tenant daily spend limits. Model downgrade when budget consumed by retrieval/tools.</a:t>
            </a:r>
            <a:endParaRPr lang="en-US" sz="1100" dirty="0"/>
          </a:p>
        </p:txBody>
      </p:sp>
      <p:sp>
        <p:nvSpPr>
          <p:cNvPr id="11" name="Text 9"/>
          <p:cNvSpPr/>
          <p:nvPr/>
        </p:nvSpPr>
        <p:spPr>
          <a:xfrm>
            <a:off x="457200" y="246888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Incident response</a:t>
            </a:r>
            <a:endParaRPr lang="en-US" sz="1200" dirty="0"/>
          </a:p>
        </p:txBody>
      </p:sp>
      <p:sp>
        <p:nvSpPr>
          <p:cNvPr id="12" name="Text 10"/>
          <p:cNvSpPr/>
          <p:nvPr/>
        </p:nvSpPr>
        <p:spPr>
          <a:xfrm>
            <a:off x="2103120" y="246888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Plays for: hallucination breach, RBAC bypass, prompt injection, tool outage, cost runaway.</a:t>
            </a:r>
            <a:endParaRPr lang="en-US" sz="1100" dirty="0"/>
          </a:p>
        </p:txBody>
      </p:sp>
      <p:sp>
        <p:nvSpPr>
          <p:cNvPr id="13" name="Text 11"/>
          <p:cNvSpPr/>
          <p:nvPr/>
        </p:nvSpPr>
        <p:spPr>
          <a:xfrm>
            <a:off x="457200" y="297180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Compliance</a:t>
            </a:r>
            <a:endParaRPr lang="en-US" sz="1200" dirty="0"/>
          </a:p>
        </p:txBody>
      </p:sp>
      <p:sp>
        <p:nvSpPr>
          <p:cNvPr id="14" name="Text 12"/>
          <p:cNvSpPr/>
          <p:nvPr/>
        </p:nvSpPr>
        <p:spPr>
          <a:xfrm>
            <a:off x="2103120" y="297180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SOC 2, ISO 27001, FedRAMP Moderate. Tamper-evident audit via append-only + hash-chain anchoring.</a:t>
            </a:r>
            <a:endParaRPr lang="en-US" sz="1100" dirty="0"/>
          </a:p>
        </p:txBody>
      </p:sp>
      <p:sp>
        <p:nvSpPr>
          <p:cNvPr id="15" name="Text 13"/>
          <p:cNvSpPr/>
          <p:nvPr/>
        </p:nvSpPr>
        <p:spPr>
          <a:xfrm>
            <a:off x="457200" y="347472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Change mgmt</a:t>
            </a:r>
            <a:endParaRPr lang="en-US" sz="1200" dirty="0"/>
          </a:p>
        </p:txBody>
      </p:sp>
      <p:sp>
        <p:nvSpPr>
          <p:cNvPr id="16" name="Text 14"/>
          <p:cNvSpPr/>
          <p:nvPr/>
        </p:nvSpPr>
        <p:spPr>
          <a:xfrm>
            <a:off x="2103120" y="347472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Prompt + model changes versioned. Golden-dataset gate: ≥10% score regression auto-blocks promotion.</a:t>
            </a:r>
            <a:endParaRPr lang="en-US" sz="1100" dirty="0"/>
          </a:p>
        </p:txBody>
      </p:sp>
      <p:sp>
        <p:nvSpPr>
          <p:cNvPr id="17" name="Text 15"/>
          <p:cNvSpPr/>
          <p:nvPr/>
        </p:nvSpPr>
        <p:spPr>
          <a:xfrm>
            <a:off x="457200" y="3977640"/>
            <a:ext cx="1554480"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DR</a:t>
            </a:r>
            <a:endParaRPr lang="en-US" sz="1200" dirty="0"/>
          </a:p>
        </p:txBody>
      </p:sp>
      <p:sp>
        <p:nvSpPr>
          <p:cNvPr id="18" name="Text 16"/>
          <p:cNvSpPr/>
          <p:nvPr/>
        </p:nvSpPr>
        <p:spPr>
          <a:xfrm>
            <a:off x="2103120" y="3977640"/>
            <a:ext cx="667512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RPO 15min · RTO 1hr. Vector store AZ-replicated. Audit logs in immutable object storage.</a:t>
            </a:r>
            <a:endParaRPr lang="en-US" sz="1100" dirty="0"/>
          </a:p>
        </p:txBody>
      </p:sp>
      <p:sp>
        <p:nvSpPr>
          <p:cNvPr id="19" name="Text 17"/>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sp>
      <p:sp>
        <p:nvSpPr>
          <p:cNvPr id="3" name="Text 1"/>
          <p:cNvSpPr/>
          <p:nvPr/>
        </p:nvSpPr>
        <p:spPr>
          <a:xfrm>
            <a:off x="365760" y="109728"/>
            <a:ext cx="84124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Honest Limitations</a:t>
            </a:r>
            <a:endParaRPr lang="en-US" sz="2200" dirty="0"/>
          </a:p>
        </p:txBody>
      </p:sp>
      <p:sp>
        <p:nvSpPr>
          <p:cNvPr id="4" name="Text 2"/>
          <p:cNvSpPr/>
          <p:nvPr/>
        </p:nvSpPr>
        <p:spPr>
          <a:xfrm>
            <a:off x="365760" y="457200"/>
            <a:ext cx="841248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Light" pitchFamily="34" charset="0"/>
                <a:ea typeface="Calibri Light" pitchFamily="34" charset="-122"/>
                <a:cs typeface="Calibri Light" pitchFamily="34" charset="-120"/>
              </a:rPr>
              <a:t>Tracked in TODO.md · scheduled for next session</a:t>
            </a:r>
            <a:endParaRPr lang="en-US" sz="1100" dirty="0"/>
          </a:p>
        </p:txBody>
      </p:sp>
      <p:sp>
        <p:nvSpPr>
          <p:cNvPr id="5" name="Text 3"/>
          <p:cNvSpPr/>
          <p:nvPr/>
        </p:nvSpPr>
        <p:spPr>
          <a:xfrm>
            <a:off x="457200" y="960120"/>
            <a:ext cx="8229600" cy="36576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This is a reference implementation, not a product. Three known issues are documented in the repo's TODO.md.</a:t>
            </a:r>
            <a:endParaRPr lang="en-US" sz="1200" dirty="0"/>
          </a:p>
        </p:txBody>
      </p:sp>
      <p:sp>
        <p:nvSpPr>
          <p:cNvPr id="6" name="Shape 4"/>
          <p:cNvSpPr/>
          <p:nvPr/>
        </p:nvSpPr>
        <p:spPr>
          <a:xfrm>
            <a:off x="457200" y="1463040"/>
            <a:ext cx="731520" cy="320040"/>
          </a:xfrm>
          <a:prstGeom prst="rect">
            <a:avLst/>
          </a:prstGeom>
          <a:solidFill>
            <a:srgbClr val="F96167"/>
          </a:solidFill>
          <a:ln w="12700">
            <a:solidFill>
              <a:srgbClr val="F96167"/>
            </a:solidFill>
            <a:prstDash val="solid"/>
          </a:ln>
        </p:spPr>
      </p:sp>
      <p:sp>
        <p:nvSpPr>
          <p:cNvPr id="7" name="Text 5"/>
          <p:cNvSpPr/>
          <p:nvPr/>
        </p:nvSpPr>
        <p:spPr>
          <a:xfrm>
            <a:off x="457200" y="146304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8" name="Text 6"/>
          <p:cNvSpPr/>
          <p:nvPr/>
        </p:nvSpPr>
        <p:spPr>
          <a:xfrm>
            <a:off x="1325880" y="1417320"/>
            <a:ext cx="745236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Corpus / NVD description mismatch — some corpus CVEs are real IDs but with synthetic descriptions. Tomorrow's fix: rewrite corpus with explicit [MOCK] prefix or real NVD-sourced content.</a:t>
            </a:r>
            <a:endParaRPr lang="en-US" sz="1100" dirty="0"/>
          </a:p>
        </p:txBody>
      </p:sp>
      <p:sp>
        <p:nvSpPr>
          <p:cNvPr id="9" name="Shape 7"/>
          <p:cNvSpPr/>
          <p:nvPr/>
        </p:nvSpPr>
        <p:spPr>
          <a:xfrm>
            <a:off x="457200" y="2011680"/>
            <a:ext cx="731520" cy="320040"/>
          </a:xfrm>
          <a:prstGeom prst="rect">
            <a:avLst/>
          </a:prstGeom>
          <a:solidFill>
            <a:srgbClr val="B45309"/>
          </a:solidFill>
          <a:ln w="12700">
            <a:solidFill>
              <a:srgbClr val="B45309"/>
            </a:solidFill>
            <a:prstDash val="solid"/>
          </a:ln>
        </p:spPr>
      </p:sp>
      <p:sp>
        <p:nvSpPr>
          <p:cNvPr id="10" name="Text 8"/>
          <p:cNvSpPr/>
          <p:nvPr/>
        </p:nvSpPr>
        <p:spPr>
          <a:xfrm>
            <a:off x="457200" y="201168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1" name="Text 9"/>
          <p:cNvSpPr/>
          <p:nvPr/>
        </p:nvSpPr>
        <p:spPr>
          <a:xfrm>
            <a:off x="1325880" y="1965960"/>
            <a:ext cx="745236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n8n workflows defined as JSON but not yet deployed. Tomorrow: ngrok + import to n8n cloud + activate + smoke test.</a:t>
            </a:r>
            <a:endParaRPr lang="en-US" sz="1100" dirty="0"/>
          </a:p>
        </p:txBody>
      </p:sp>
      <p:sp>
        <p:nvSpPr>
          <p:cNvPr id="12" name="Shape 10"/>
          <p:cNvSpPr/>
          <p:nvPr/>
        </p:nvSpPr>
        <p:spPr>
          <a:xfrm>
            <a:off x="457200" y="2560320"/>
            <a:ext cx="731520" cy="320040"/>
          </a:xfrm>
          <a:prstGeom prst="rect">
            <a:avLst/>
          </a:prstGeom>
          <a:solidFill>
            <a:srgbClr val="B45309"/>
          </a:solidFill>
          <a:ln w="12700">
            <a:solidFill>
              <a:srgbClr val="B45309"/>
            </a:solidFill>
            <a:prstDash val="solid"/>
          </a:ln>
        </p:spPr>
      </p:sp>
      <p:sp>
        <p:nvSpPr>
          <p:cNvPr id="13" name="Text 11"/>
          <p:cNvSpPr/>
          <p:nvPr/>
        </p:nvSpPr>
        <p:spPr>
          <a:xfrm>
            <a:off x="457200" y="256032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14" name="Text 12"/>
          <p:cNvSpPr/>
          <p:nvPr/>
        </p:nvSpPr>
        <p:spPr>
          <a:xfrm>
            <a:off x="1325880" y="2514600"/>
            <a:ext cx="745236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Golden-dataset baseline not yet seeded — Workflow 2's drift detection needs a reference run.</a:t>
            </a:r>
            <a:endParaRPr lang="en-US" sz="1100" dirty="0"/>
          </a:p>
        </p:txBody>
      </p:sp>
      <p:sp>
        <p:nvSpPr>
          <p:cNvPr id="15" name="Shape 13"/>
          <p:cNvSpPr/>
          <p:nvPr/>
        </p:nvSpPr>
        <p:spPr>
          <a:xfrm>
            <a:off x="457200" y="3108960"/>
            <a:ext cx="731520" cy="320040"/>
          </a:xfrm>
          <a:prstGeom prst="rect">
            <a:avLst/>
          </a:prstGeom>
          <a:solidFill>
            <a:srgbClr val="475569"/>
          </a:solidFill>
          <a:ln w="12700">
            <a:solidFill>
              <a:srgbClr val="475569"/>
            </a:solidFill>
            <a:prstDash val="solid"/>
          </a:ln>
        </p:spPr>
      </p:sp>
      <p:sp>
        <p:nvSpPr>
          <p:cNvPr id="16" name="Text 14"/>
          <p:cNvSpPr/>
          <p:nvPr/>
        </p:nvSpPr>
        <p:spPr>
          <a:xfrm>
            <a:off x="457200" y="310896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LOW</a:t>
            </a:r>
            <a:endParaRPr lang="en-US" sz="1000" dirty="0"/>
          </a:p>
        </p:txBody>
      </p:sp>
      <p:sp>
        <p:nvSpPr>
          <p:cNvPr id="17" name="Text 15"/>
          <p:cNvSpPr/>
          <p:nvPr/>
        </p:nvSpPr>
        <p:spPr>
          <a:xfrm>
            <a:off x="1325880" y="3063240"/>
            <a:ext cx="745236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NVD lookup intermittently rate-limited — cache + retry recommended.</a:t>
            </a:r>
            <a:endParaRPr lang="en-US" sz="1100" dirty="0"/>
          </a:p>
        </p:txBody>
      </p:sp>
      <p:sp>
        <p:nvSpPr>
          <p:cNvPr id="18" name="Shape 16"/>
          <p:cNvSpPr/>
          <p:nvPr/>
        </p:nvSpPr>
        <p:spPr>
          <a:xfrm>
            <a:off x="457200" y="3657600"/>
            <a:ext cx="731520" cy="320040"/>
          </a:xfrm>
          <a:prstGeom prst="rect">
            <a:avLst/>
          </a:prstGeom>
          <a:solidFill>
            <a:srgbClr val="475569"/>
          </a:solidFill>
          <a:ln w="12700">
            <a:solidFill>
              <a:srgbClr val="475569"/>
            </a:solidFill>
            <a:prstDash val="solid"/>
          </a:ln>
        </p:spPr>
      </p:sp>
      <p:sp>
        <p:nvSpPr>
          <p:cNvPr id="19" name="Text 17"/>
          <p:cNvSpPr/>
          <p:nvPr/>
        </p:nvSpPr>
        <p:spPr>
          <a:xfrm>
            <a:off x="457200" y="365760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LOW</a:t>
            </a:r>
            <a:endParaRPr lang="en-US" sz="1000" dirty="0"/>
          </a:p>
        </p:txBody>
      </p:sp>
      <p:sp>
        <p:nvSpPr>
          <p:cNvPr id="20" name="Text 18"/>
          <p:cNvSpPr/>
          <p:nvPr/>
        </p:nvSpPr>
        <p:spPr>
          <a:xfrm>
            <a:off x="1325880" y="3611880"/>
            <a:ext cx="7452360" cy="5029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Streamlit sidebar numbered list renders as '1.' fourteen times (markdown quirk).</a:t>
            </a:r>
            <a:endParaRPr lang="en-US" sz="1100" dirty="0"/>
          </a:p>
        </p:txBody>
      </p:sp>
      <p:sp>
        <p:nvSpPr>
          <p:cNvPr id="21" name="Text 19"/>
          <p:cNvSpPr/>
          <p:nvPr/>
        </p:nvSpPr>
        <p:spPr>
          <a:xfrm>
            <a:off x="365760" y="4850892"/>
            <a:ext cx="841248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Lamonte Smith  ·  IK Applied Agentic AI  ·  Week 8  ·  Slide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48640"/>
            <a:ext cx="8229600" cy="457200"/>
          </a:xfrm>
          <a:prstGeom prst="rect">
            <a:avLst/>
          </a:prstGeom>
          <a:noFill/>
          <a:ln/>
        </p:spPr>
        <p:txBody>
          <a:bodyPr wrap="square" lIns="0" tIns="0" rIns="0" bIns="0" rtlCol="0" anchor="ctr"/>
          <a:lstStyle/>
          <a:p>
            <a:pPr indent="0" marL="0">
              <a:buNone/>
            </a:pPr>
            <a:r>
              <a:rPr lang="en-US" sz="2200" dirty="0">
                <a:solidFill>
                  <a:srgbClr val="CADCFC"/>
                </a:solidFill>
                <a:latin typeface="Calibri Light" pitchFamily="34" charset="0"/>
                <a:ea typeface="Calibri Light" pitchFamily="34" charset="-122"/>
                <a:cs typeface="Calibri Light" pitchFamily="34" charset="-120"/>
              </a:rPr>
              <a:t>What you can see today</a:t>
            </a:r>
            <a:endParaRPr lang="en-US" sz="2200" dirty="0"/>
          </a:p>
        </p:txBody>
      </p:sp>
      <p:sp>
        <p:nvSpPr>
          <p:cNvPr id="3" name="Shape 1"/>
          <p:cNvSpPr/>
          <p:nvPr/>
        </p:nvSpPr>
        <p:spPr>
          <a:xfrm>
            <a:off x="548640" y="1051560"/>
            <a:ext cx="457200" cy="36576"/>
          </a:xfrm>
          <a:prstGeom prst="rect">
            <a:avLst/>
          </a:prstGeom>
          <a:solidFill>
            <a:srgbClr val="F96167"/>
          </a:solidFill>
          <a:ln w="12700">
            <a:solidFill>
              <a:srgbClr val="F96167"/>
            </a:solidFill>
            <a:prstDash val="solid"/>
          </a:ln>
        </p:spPr>
      </p:sp>
      <p:sp>
        <p:nvSpPr>
          <p:cNvPr id="4" name="Text 2"/>
          <p:cNvSpPr/>
          <p:nvPr/>
        </p:nvSpPr>
        <p:spPr>
          <a:xfrm>
            <a:off x="548640" y="1280160"/>
            <a:ext cx="8229600" cy="2377440"/>
          </a:xfrm>
          <a:prstGeom prst="rect">
            <a:avLst/>
          </a:prstGeom>
          <a:noFill/>
          <a:ln/>
        </p:spPr>
        <p:txBody>
          <a:bodyPr wrap="square" lIns="0" tIns="0" rIns="0" bIns="0" rtlCol="0" anchor="ctr"/>
          <a:lstStyle/>
          <a:p>
            <a:pPr marL="342900" indent="-342900">
              <a:spcAft>
                <a:spcPts val="600"/>
              </a:spcAft>
              <a:buSzPct val="100000"/>
              <a:buChar char="•"/>
            </a:pPr>
            <a:r>
              <a:rPr lang="en-US" sz="1300" b="1" dirty="0">
                <a:solidFill>
                  <a:srgbClr val="FFFFFF"/>
                </a:solidFill>
                <a:latin typeface="Calibri" pitchFamily="34" charset="0"/>
                <a:ea typeface="Calibri" pitchFamily="34" charset="-122"/>
                <a:cs typeface="Calibri" pitchFamily="34" charset="-120"/>
              </a:rPr>
              <a:t>GitHub repository — github.com/LSmithPMP/Enterprise-Knowledge-Agent</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14-agent pipeline, FastAPI gateway, Streamlit dashboard, two n8n workflows</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System Design Document — Requirements, Components, Trade-offs, Failure Modes, Observability, Productionization</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Product Requirements Document (Appendix A) and NIST SP 800-30 Risk Matrix with 22 entries (Appendix B)</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Architecture diagram — six layers, all 14 agents, both workflows, all external tools</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SECURITY.md and TODO.md — current posture and tracked follow-ups</a:t>
            </a:r>
            <a:endParaRPr lang="en-US" sz="1300" dirty="0"/>
          </a:p>
        </p:txBody>
      </p:sp>
      <p:sp>
        <p:nvSpPr>
          <p:cNvPr id="5" name="Text 3"/>
          <p:cNvSpPr/>
          <p:nvPr/>
        </p:nvSpPr>
        <p:spPr>
          <a:xfrm>
            <a:off x="548640" y="4023360"/>
            <a:ext cx="82296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Lamonte Smith</a:t>
            </a:r>
            <a:endParaRPr lang="en-US" sz="1600" dirty="0"/>
          </a:p>
        </p:txBody>
      </p:sp>
      <p:sp>
        <p:nvSpPr>
          <p:cNvPr id="6" name="Text 4"/>
          <p:cNvSpPr/>
          <p:nvPr/>
        </p:nvSpPr>
        <p:spPr>
          <a:xfrm>
            <a:off x="548640" y="4370832"/>
            <a:ext cx="82296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Senior Software Design Release Engineer · GM · Milford, MI</a:t>
            </a:r>
            <a:endParaRPr lang="en-US" sz="1100" dirty="0"/>
          </a:p>
        </p:txBody>
      </p:sp>
      <p:sp>
        <p:nvSpPr>
          <p:cNvPr id="7" name="Text 5"/>
          <p:cNvSpPr/>
          <p:nvPr/>
        </p:nvSpPr>
        <p:spPr>
          <a:xfrm>
            <a:off x="548640" y="4645152"/>
            <a:ext cx="82296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Walsh College: DBA (AI/ML Leadership) + PhD (Technology, Cybersecurity) · 4.0 GPA · expected 2027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Knowledge Research Agent</dc:title>
  <dc:subject>IK Applied Agentic AI — Week 8</dc:subject>
  <dc:creator>Lamonte Smith</dc:creator>
  <cp:lastModifiedBy>Lamonte Smith</cp:lastModifiedBy>
  <cp:revision>1</cp:revision>
  <dcterms:created xsi:type="dcterms:W3CDTF">2026-05-11T01:03:49Z</dcterms:created>
  <dcterms:modified xsi:type="dcterms:W3CDTF">2026-05-11T01:03:49Z</dcterms:modified>
</cp:coreProperties>
</file>